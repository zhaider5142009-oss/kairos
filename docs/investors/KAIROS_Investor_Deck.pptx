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4"/>
    <p:sldId id="259" r:id="rId5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C2B0A43-8232-4FB3-A994-2F3DC0E52215}"/>
              </a:ext>
            </a:extLst>
          </p:cNvPr>
          <p:cNvSpPr txBox="1"/>
          <p:nvPr/>
        </p:nvSpPr>
        <p:spPr>
          <a:xfrm>
            <a:off x="857250" y="1333500"/>
            <a:ext cx="5334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D48A"/>
                </a:solidFill>
                <a:latin typeface="Segoe UI"/>
                <a:ea typeface="Segoe UI"/>
              </a:rPr>
              <a:t>AUTONOMOUS  PREDICTION  &amp;  EXECUTION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C06BC4-EB4A-405A-B49E-9EF0FA617712}"/>
              </a:ext>
            </a:extLst>
          </p:cNvPr>
          <p:cNvSpPr txBox="1"/>
          <p:nvPr/>
        </p:nvSpPr>
        <p:spPr>
          <a:xfrm>
            <a:off x="819150" y="1733550"/>
            <a:ext cx="5334000" cy="13811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E6E9EF"/>
                </a:solidFill>
                <a:latin typeface="Segoe UI"/>
                <a:ea typeface="Segoe UI"/>
              </a:rPr>
              <a:t>KAIROS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9C3411C-9DBF-4E3B-B61F-69E5AA750DF6}"/>
              </a:ext>
            </a:extLst>
          </p:cNvPr>
          <p:cNvSpPr txBox="1"/>
          <p:nvPr/>
        </p:nvSpPr>
        <p:spPr>
          <a:xfrm>
            <a:off x="857250" y="3276600"/>
            <a:ext cx="5191125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700">
                <a:solidFill>
                  <a:srgbClr val="8B94A6"/>
                </a:solidFill>
                <a:latin typeface="Segoe UI"/>
                <a:ea typeface="Segoe UI"/>
              </a:rPr>
              <a:t>Pakistan and global markets. One operator, running 24/7, publishing the instruments where it lost money.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EDBFFC3-9679-4922-B700-19EC802C3C34}"/>
              </a:ext>
            </a:extLst>
          </p:cNvPr>
          <p:cNvSpPr/>
          <p:nvPr/>
        </p:nvSpPr>
        <p:spPr>
          <a:xfrm>
            <a:off x="857250" y="4267200"/>
            <a:ext cx="5191125" cy="11239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A3040"/>
            </a:solidFill>
          </a:ln>
        </p:spPr>
        <p:txBody>
          <a:bodyPr wrap="square" rtlCol="0" lIns="0" tIns="0" rIns="0" bIns="0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F0B429"/>
                </a:solidFill>
                <a:latin typeface="Segoe UI"/>
                <a:ea typeface="Segoe UI"/>
              </a:rPr>
              <a:t>No forward track record yet. No return promised.</a:t>
            </a:r>
            <a:br/>
            <a:r>
              <a:rPr sz="1300">
                <a:solidFill>
                  <a:srgbClr val="F0B429"/>
                </a:solidFill>
                <a:latin typeface="Segoe UI"/>
                <a:ea typeface="Segoe UI"/>
              </a:rPr>
              <a:t>Every figure regenerates from the on-disk journals.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F36634B-3992-4EFC-8A39-5303210BE113}"/>
              </a:ext>
            </a:extLst>
          </p:cNvPr>
          <p:cNvSpPr txBox="1"/>
          <p:nvPr/>
        </p:nvSpPr>
        <p:spPr>
          <a:xfrm>
            <a:off x="857250" y="6038850"/>
            <a:ext cx="5905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4A6"/>
                </a:solidFill>
                <a:latin typeface="Segoe UI"/>
                <a:ea typeface="Segoe UI"/>
              </a:rPr>
              <a:t>KAIROS v2.6.2 · 2026-10-24 · github.com/zhaider5142009-oss/kairos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0773142-83A1-4BED-A535-755328A6CF33}"/>
              </a:ext>
            </a:extLst>
          </p:cNvPr>
          <p:cNvSpPr/>
          <p:nvPr/>
        </p:nvSpPr>
        <p:spPr>
          <a:xfrm>
            <a:off x="7524750" y="4086225"/>
            <a:ext cx="3771900" cy="9525"/>
          </a:xfrm>
          <a:prstGeom prst="rect">
            <a:avLst/>
          </a:prstGeom>
          <a:solidFill>
            <a:srgbClr val="1E243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7CADDF1-82B3-4A32-95F0-8D2F71865059}"/>
              </a:ext>
            </a:extLst>
          </p:cNvPr>
          <p:cNvSpPr/>
          <p:nvPr/>
        </p:nvSpPr>
        <p:spPr>
          <a:xfrm>
            <a:off x="7620000" y="1676400"/>
            <a:ext cx="190500" cy="24193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848CA00-3FE4-4453-BE52-22F36E1FD9BA}"/>
              </a:ext>
            </a:extLst>
          </p:cNvPr>
          <p:cNvSpPr/>
          <p:nvPr/>
        </p:nvSpPr>
        <p:spPr>
          <a:xfrm>
            <a:off x="7886700" y="2667000"/>
            <a:ext cx="190500" cy="14287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BC405F5-C4B8-4DB3-B8A9-04593E311AFF}"/>
              </a:ext>
            </a:extLst>
          </p:cNvPr>
          <p:cNvSpPr/>
          <p:nvPr/>
        </p:nvSpPr>
        <p:spPr>
          <a:xfrm>
            <a:off x="8153400" y="2809875"/>
            <a:ext cx="190500" cy="1285875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82ECE4D-C772-4F47-94CA-1094D0002516}"/>
              </a:ext>
            </a:extLst>
          </p:cNvPr>
          <p:cNvSpPr/>
          <p:nvPr/>
        </p:nvSpPr>
        <p:spPr>
          <a:xfrm>
            <a:off x="8420100" y="3448050"/>
            <a:ext cx="190500" cy="64770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5DDB360-62B9-470E-830D-1EC49CC08F30}"/>
              </a:ext>
            </a:extLst>
          </p:cNvPr>
          <p:cNvSpPr/>
          <p:nvPr/>
        </p:nvSpPr>
        <p:spPr>
          <a:xfrm>
            <a:off x="8686800" y="3714750"/>
            <a:ext cx="190500" cy="38100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966C98D-E177-4263-8010-E85284FFF01B}"/>
              </a:ext>
            </a:extLst>
          </p:cNvPr>
          <p:cNvSpPr/>
          <p:nvPr/>
        </p:nvSpPr>
        <p:spPr>
          <a:xfrm>
            <a:off x="8953500" y="3943350"/>
            <a:ext cx="190500" cy="15240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5422713-4FB9-4B7A-95AD-FB81EBAA1A8D}"/>
              </a:ext>
            </a:extLst>
          </p:cNvPr>
          <p:cNvSpPr/>
          <p:nvPr/>
        </p:nvSpPr>
        <p:spPr>
          <a:xfrm>
            <a:off x="9220200" y="4095750"/>
            <a:ext cx="190500" cy="66675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80B217D-25B0-41E0-B813-5BBF990C60B5}"/>
              </a:ext>
            </a:extLst>
          </p:cNvPr>
          <p:cNvSpPr/>
          <p:nvPr/>
        </p:nvSpPr>
        <p:spPr>
          <a:xfrm>
            <a:off x="9486900" y="4095750"/>
            <a:ext cx="190500" cy="161925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08CB9DE-C8DB-423E-8BAD-B4306B0E7D32}"/>
              </a:ext>
            </a:extLst>
          </p:cNvPr>
          <p:cNvSpPr/>
          <p:nvPr/>
        </p:nvSpPr>
        <p:spPr>
          <a:xfrm>
            <a:off x="9753600" y="4095750"/>
            <a:ext cx="190500" cy="266700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2066A32-3B17-4AD7-AD36-BE01098C4AA9}"/>
              </a:ext>
            </a:extLst>
          </p:cNvPr>
          <p:cNvSpPr/>
          <p:nvPr/>
        </p:nvSpPr>
        <p:spPr>
          <a:xfrm>
            <a:off x="10020300" y="4095750"/>
            <a:ext cx="190500" cy="304800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87C8485-A68B-45AD-8F5C-B7A1FEC2D968}"/>
              </a:ext>
            </a:extLst>
          </p:cNvPr>
          <p:cNvSpPr/>
          <p:nvPr/>
        </p:nvSpPr>
        <p:spPr>
          <a:xfrm>
            <a:off x="10287000" y="4095750"/>
            <a:ext cx="190500" cy="342900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80CA3AA-D10D-41B9-9A3C-5D2CDB848764}"/>
              </a:ext>
            </a:extLst>
          </p:cNvPr>
          <p:cNvSpPr/>
          <p:nvPr/>
        </p:nvSpPr>
        <p:spPr>
          <a:xfrm>
            <a:off x="10553700" y="4095750"/>
            <a:ext cx="190500" cy="371475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E7BC438-91E5-4D5F-91E5-57851538C12B}"/>
              </a:ext>
            </a:extLst>
          </p:cNvPr>
          <p:cNvSpPr/>
          <p:nvPr/>
        </p:nvSpPr>
        <p:spPr>
          <a:xfrm>
            <a:off x="10820400" y="4095750"/>
            <a:ext cx="190500" cy="819150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66D369E-0F43-4485-9DF1-242E90A93444}"/>
              </a:ext>
            </a:extLst>
          </p:cNvPr>
          <p:cNvSpPr/>
          <p:nvPr/>
        </p:nvSpPr>
        <p:spPr>
          <a:xfrm>
            <a:off x="11087100" y="4095750"/>
            <a:ext cx="190500" cy="828675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A7CF901-894E-4311-A4BE-51E113D578B7}"/>
              </a:ext>
            </a:extLst>
          </p:cNvPr>
          <p:cNvSpPr txBox="1"/>
          <p:nvPr/>
        </p:nvSpPr>
        <p:spPr>
          <a:xfrm>
            <a:off x="7524750" y="5162550"/>
            <a:ext cx="3810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6E9EF"/>
                </a:solidFill>
                <a:latin typeface="Segoe UI"/>
                <a:ea typeface="Segoe UI"/>
              </a:rPr>
              <a:t>4 / 14</a:t>
            </a: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  profitable, out-of-sample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645937F-231F-4C9B-99CF-5994E0A41234}"/>
              </a:ext>
            </a:extLst>
          </p:cNvPr>
          <p:cNvSpPr txBox="1"/>
          <p:nvPr/>
        </p:nvSpPr>
        <p:spPr>
          <a:xfrm>
            <a:off x="7524750" y="5429250"/>
            <a:ext cx="3810000" cy="400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8B94A6"/>
                </a:solidFill>
                <a:latin typeface="Segoe UI"/>
                <a:ea typeface="Segoe UI"/>
              </a:rPr>
              <a:t>Walk-forward sweep, one blended signal per instrument,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8B94A6"/>
                </a:solidFill>
                <a:latin typeface="Segoe UI"/>
                <a:ea typeface="Segoe UI"/>
              </a:rPr>
              <a:t>PSX commission and slippage modelled. Losses shown.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7B37517-2175-4CD4-832B-8EE347189C9F}"/>
              </a:ext>
            </a:extLst>
          </p:cNvPr>
          <p:cNvSpPr txBox="1"/>
          <p:nvPr/>
        </p:nvSpPr>
        <p:spPr>
          <a:xfrm>
            <a:off x="7524750" y="4267200"/>
            <a:ext cx="3810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SILVER  WHEAT  GOLD  HBL  WTI  BRENT |</a:t>
            </a:r>
          </a:p>
          <a:p>
            <a:pPr algn="l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EURUSD  MCB  KSE100  BTC  COPPER</a:t>
            </a:r>
          </a:p>
          <a:p>
            <a:pPr algn="l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LUCK  NATGAS  OGDC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B9C5772-7819-4842-9794-E48175462580}"/>
              </a:ext>
            </a:extLst>
          </p:cNvPr>
          <p:cNvSpPr txBox="1"/>
          <p:nvPr/>
        </p:nvSpPr>
        <p:spPr>
          <a:xfrm>
            <a:off x="762000" y="495300"/>
            <a:ext cx="6667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The gap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1906424-81DB-430B-8176-7D6A51175C1F}"/>
              </a:ext>
            </a:extLst>
          </p:cNvPr>
          <p:cNvSpPr txBox="1"/>
          <p:nvPr/>
        </p:nvSpPr>
        <p:spPr>
          <a:xfrm>
            <a:off x="762000" y="1123950"/>
            <a:ext cx="4762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two markets, one missing piece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37C47EA-1605-4E07-A609-251105757BAD}"/>
              </a:ext>
            </a:extLst>
          </p:cNvPr>
          <p:cNvSpPr/>
          <p:nvPr/>
        </p:nvSpPr>
        <p:spPr>
          <a:xfrm>
            <a:off x="762000" y="1543050"/>
            <a:ext cx="3295650" cy="4038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96AD5A3-6D4B-42D2-9019-72D8E370DE4C}"/>
              </a:ext>
            </a:extLst>
          </p:cNvPr>
          <p:cNvSpPr/>
          <p:nvPr/>
        </p:nvSpPr>
        <p:spPr>
          <a:xfrm>
            <a:off x="4448175" y="1543050"/>
            <a:ext cx="3295650" cy="4038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CB57540-D7F6-4B61-B8B4-7680156A4C81}"/>
              </a:ext>
            </a:extLst>
          </p:cNvPr>
          <p:cNvSpPr/>
          <p:nvPr/>
        </p:nvSpPr>
        <p:spPr>
          <a:xfrm>
            <a:off x="8134350" y="1543050"/>
            <a:ext cx="3295650" cy="4038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A7DA3C9-D612-4E9A-9CF1-9E1B2C308D08}"/>
              </a:ext>
            </a:extLst>
          </p:cNvPr>
          <p:cNvSpPr txBox="1"/>
          <p:nvPr/>
        </p:nvSpPr>
        <p:spPr>
          <a:xfrm>
            <a:off x="990600" y="1771650"/>
            <a:ext cx="28384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FD48A"/>
                </a:solidFill>
                <a:latin typeface="Consolas"/>
                <a:ea typeface="Consolas"/>
              </a:rPr>
              <a:t>PSX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F58A786-1079-4EE4-9B76-86DB6114781D}"/>
              </a:ext>
            </a:extLst>
          </p:cNvPr>
          <p:cNvSpPr txBox="1"/>
          <p:nvPr/>
        </p:nvSpPr>
        <p:spPr>
          <a:xfrm>
            <a:off x="990600" y="203835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Manual rails only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1021F7C-726A-4F92-B8CD-581FCDE470AC}"/>
              </a:ext>
            </a:extLst>
          </p:cNvPr>
          <p:cNvSpPr txBox="1"/>
          <p:nvPr/>
        </p:nvSpPr>
        <p:spPr>
          <a:xfrm>
            <a:off x="990600" y="2438400"/>
            <a:ext cx="2838450" cy="3213100"/>
          </a:xfrm>
        </p:spPr>
        <p:txBody>
          <a:bodyPr wrap="square" rtlCol="0" lIns="0" tIns="0" rIns="0" bIns="0" anchor="t"/>
          <a:lstStyle/>
          <a:p>
            <a:pPr>
              <a:lnSpc>
                <a:spcPct val="150000"/>
              </a:lnSpc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484 listed names on a retail-dominated tape.</a:t>
            </a:r>
          </a:p>
          <a:p>
            <a:pPr>
              <a:lnSpc>
                <a:spcPct val="150000"/>
              </a:lnSpc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Books are thin outside the heavyweights, and a round trip costs roughly 8% for an active strategy.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/>
            </a:r>
          </a:p>
          <a:p>
            <a:pPr>
              <a:lnSpc>
                <a:spcPct val="150000"/>
              </a:lnSpc>
            </a:pPr>
            <a:r>
              <a:rPr sz="1350">
                <a:solidFill>
                  <a:srgbClr val="E6E9EF"/>
                </a:solidFill>
                <a:latin typeface="Segoe UI"/>
                <a:ea typeface="Segoe UI"/>
              </a:rPr>
              <a:t>No systematic tooling of this kind reaches a small account: the choice is a charting UI or a call to a dealing desk.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5520DEF-96FB-4143-B25D-C4D82BD76211}"/>
              </a:ext>
            </a:extLst>
          </p:cNvPr>
          <p:cNvSpPr txBox="1"/>
          <p:nvPr/>
        </p:nvSpPr>
        <p:spPr>
          <a:xfrm>
            <a:off x="4676775" y="1771650"/>
            <a:ext cx="28384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FD48A"/>
                </a:solidFill>
                <a:latin typeface="Consolas"/>
                <a:ea typeface="Consolas"/>
              </a:rPr>
              <a:t>GLOBAL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1625A2-E251-4F5A-A9DE-D1408B626AC4}"/>
              </a:ext>
            </a:extLst>
          </p:cNvPr>
          <p:cNvSpPr txBox="1"/>
          <p:nvPr/>
        </p:nvSpPr>
        <p:spPr>
          <a:xfrm>
            <a:off x="4676775" y="203835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Signals, no local 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3D7D6E3-5A2B-4ACA-A1A7-4B029494F2DD}"/>
              </a:ext>
            </a:extLst>
          </p:cNvPr>
          <p:cNvSpPr txBox="1"/>
          <p:nvPr/>
        </p:nvSpPr>
        <p:spPr>
          <a:xfrm>
            <a:off x="4676775" y="2438400"/>
            <a:ext cx="2838450" cy="3213100"/>
          </a:xfrm>
        </p:spPr>
        <p:txBody>
          <a:bodyPr wrap="square" rtlCol="0" lIns="0" tIns="0" rIns="0" bIns="0" anchor="t"/>
          <a:lstStyle/>
          <a:p>
            <a:pPr>
              <a:lnSpc>
                <a:spcPct val="150000"/>
              </a:lnSpc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Commodity, FX and crypto signal infrastructure is abundant, cheap and well documented.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None of it connects to a Pakistani broker, and none carries a cost model built for a 10-tick book.</a:t>
            </a:r>
          </a:p>
          <a:p>
            <a:pPr>
              <a:lnSpc>
                <a:spcPct val="150000"/>
              </a:lnSpc>
            </a:pPr>
            <a:r>
              <a:rPr sz="1350">
                <a:solidFill>
                  <a:srgbClr val="E6E9EF"/>
                </a:solidFill>
                <a:latin typeface="Segoe UI"/>
                <a:ea typeface="Segoe UI"/>
              </a:rPr>
              <a:t>KAIROS trades both sides from one risk layer: PSX equities, MT5 commodities and FX, crypto, paper and live.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F160D03-8586-4DE2-911D-0DEC275C1F85}"/>
              </a:ext>
            </a:extLst>
          </p:cNvPr>
          <p:cNvSpPr txBox="1"/>
          <p:nvPr/>
        </p:nvSpPr>
        <p:spPr>
          <a:xfrm>
            <a:off x="8362950" y="1771650"/>
            <a:ext cx="28384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FD48A"/>
                </a:solidFill>
                <a:latin typeface="Consolas"/>
                <a:ea typeface="Consolas"/>
              </a:rPr>
              <a:t>TRUST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2F73B8-DE58-4B53-8EE1-9FCA653CC0C4}"/>
              </a:ext>
            </a:extLst>
          </p:cNvPr>
          <p:cNvSpPr txBox="1"/>
          <p:nvPr/>
        </p:nvSpPr>
        <p:spPr>
          <a:xfrm>
            <a:off x="8362950" y="203835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No losers, no credibility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8205B9F-BC2E-4D8C-86E2-71C9C8B5EDE3}"/>
              </a:ext>
            </a:extLst>
          </p:cNvPr>
          <p:cNvSpPr txBox="1"/>
          <p:nvPr/>
        </p:nvSpPr>
        <p:spPr>
          <a:xfrm>
            <a:off x="8362950" y="2438400"/>
            <a:ext cx="2838450" cy="3213100"/>
          </a:xfrm>
        </p:spPr>
        <p:txBody>
          <a:bodyPr wrap="square" rtlCol="0" lIns="0" tIns="0" rIns="0" bIns="0" anchor="t"/>
          <a:lstStyle/>
          <a:p>
            <a:pPr>
              <a:lnSpc>
                <a:spcPct val="150000"/>
              </a:lnSpc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Marketing in this space quotes the best instrument and hides the other thirteen.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Diligence ends the moment someone opens the scoring rule or the fee model.</a:t>
            </a:r>
          </a:p>
          <a:p>
            <a:pPr>
              <a:lnSpc>
                <a:spcPct val="150000"/>
              </a:lnSpc>
            </a:pPr>
            <a:r>
              <a:rPr sz="1350">
                <a:solidFill>
                  <a:srgbClr val="E6E9EF"/>
                </a:solidFill>
                <a:latin typeface="Segoe UI"/>
                <a:ea typeface="Segoe UI"/>
              </a:rPr>
              <a:t>So the ledger is in the repo: append-only journals, one command to rebuild every number, six instruments reported as losses.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A15D7A7-7032-43B6-8B0A-E46A76786A51}"/>
              </a:ext>
            </a:extLst>
          </p:cNvPr>
          <p:cNvSpPr txBox="1"/>
          <p:nvPr/>
        </p:nvSpPr>
        <p:spPr>
          <a:xfrm>
            <a:off x="762000" y="5924550"/>
            <a:ext cx="10668000" cy="38100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0B429"/>
                </a:solidFill>
                <a:latin typeface="Segoe UI"/>
                <a:ea typeface="Segoe UI"/>
              </a:rPr>
              <a:t>The wedge is not the alpha. The wedge is the plumbing plus the honesty.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C3AC6EC-12D0-4DF5-8601-F513FD92FBEB}"/>
              </a:ext>
            </a:extLst>
          </p:cNvPr>
          <p:cNvSpPr txBox="1"/>
          <p:nvPr/>
        </p:nvSpPr>
        <p:spPr>
          <a:xfrm>
            <a:off x="762000" y="495300"/>
            <a:ext cx="8572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What is actually built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CB8E9D1-447C-49D1-B32C-FB9CDDC2BB9F}"/>
              </a:ext>
            </a:extLst>
          </p:cNvPr>
          <p:cNvSpPr txBox="1"/>
          <p:nvPr/>
        </p:nvSpPr>
        <p:spPr>
          <a:xfrm>
            <a:off x="762000" y="1123950"/>
            <a:ext cx="4762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running now, not planned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98AC0E1-F49F-4DE2-96AB-35733DCFF1E7}"/>
              </a:ext>
            </a:extLst>
          </p:cNvPr>
          <p:cNvSpPr/>
          <p:nvPr/>
        </p:nvSpPr>
        <p:spPr>
          <a:xfrm>
            <a:off x="762000" y="1638300"/>
            <a:ext cx="1905000" cy="2381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 lIns="0" tIns="0" rIns="0" bIns="0" anchor="ctr"/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E6E9EF"/>
                </a:solidFill>
                <a:latin typeface="Consolas"/>
                <a:ea typeface="Consolas"/>
              </a:rPr>
              <a:t>18,043</a:t>
            </a:r>
          </a:p>
          <a:p>
            <a:pPr algn="ctr">
              <a:spcAft>
                <a:spcPts val="800"/>
              </a:spcAft>
            </a:pPr>
            <a:r>
              <a:rPr/>
              <a:t/>
            </a:r>
          </a:p>
          <a:p>
            <a:pPr algn="ctr"/>
            <a:r>
              <a:rPr sz="1500" b="1">
                <a:solidFill>
                  <a:srgbClr val="2FD48A"/>
                </a:solidFill>
                <a:latin typeface="Segoe UI"/>
                <a:ea typeface="Segoe UI"/>
              </a:rPr>
              <a:t>lines of Python</a:t>
            </a:r>
          </a:p>
          <a:p>
            <a:pPr algn="ctr"/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43 modules, public under MIT, no closed core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C273F79-ECD8-41D2-A284-A4CC1A4BF7F8}"/>
              </a:ext>
            </a:extLst>
          </p:cNvPr>
          <p:cNvSpPr/>
          <p:nvPr/>
        </p:nvSpPr>
        <p:spPr>
          <a:xfrm>
            <a:off x="2952750" y="1638300"/>
            <a:ext cx="1905000" cy="2381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 lIns="0" tIns="0" rIns="0" bIns="0" anchor="ctr"/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E6E9EF"/>
                </a:solidFill>
                <a:latin typeface="Consolas"/>
                <a:ea typeface="Consolas"/>
              </a:rPr>
              <a:t>100</a:t>
            </a:r>
          </a:p>
          <a:p>
            <a:pPr algn="ctr">
              <a:spcAft>
                <a:spcPts val="800"/>
              </a:spcAft>
            </a:pPr>
            <a:r>
              <a:rPr/>
              <a:t/>
            </a:r>
          </a:p>
          <a:p>
            <a:pPr algn="ctr"/>
            <a:r>
              <a:rPr sz="1500" b="1">
                <a:solidFill>
                  <a:srgbClr val="2FD48A"/>
                </a:solidFill>
                <a:latin typeface="Segoe UI"/>
                <a:ea typeface="Segoe UI"/>
              </a:rPr>
              <a:t>strategies</a:t>
            </a:r>
          </a:p>
          <a:p>
            <a:pPr algn="ctr"/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voting into the live consensus, the sweep fits one signal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88AAEC6-9310-4B33-8FB4-E5BF9DCBB894}"/>
              </a:ext>
            </a:extLst>
          </p:cNvPr>
          <p:cNvSpPr/>
          <p:nvPr/>
        </p:nvSpPr>
        <p:spPr>
          <a:xfrm>
            <a:off x="5143500" y="1638300"/>
            <a:ext cx="1905000" cy="2381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 lIns="0" tIns="0" rIns="0" bIns="0" anchor="ctr"/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E6E9EF"/>
                </a:solidFill>
                <a:latin typeface="Consolas"/>
                <a:ea typeface="Consolas"/>
              </a:rPr>
              <a:t>6</a:t>
            </a:r>
          </a:p>
          <a:p>
            <a:pPr algn="ctr">
              <a:spcAft>
                <a:spcPts val="800"/>
              </a:spcAft>
            </a:pPr>
            <a:r>
              <a:rPr/>
              <a:t/>
            </a:r>
          </a:p>
          <a:p>
            <a:pPr algn="ctr"/>
            <a:r>
              <a:rPr sz="1500" b="1">
                <a:solidFill>
                  <a:srgbClr val="2FD48A"/>
                </a:solidFill>
                <a:latin typeface="Segoe UI"/>
                <a:ea typeface="Segoe UI"/>
              </a:rPr>
              <a:t>council seats</a:t>
            </a:r>
          </a:p>
          <a:p>
            <a:pPr algn="ctr"/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2 providers, named-seat median, catalog-checked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AC468ED-EA71-433D-9114-E3BDBF68B0AC}"/>
              </a:ext>
            </a:extLst>
          </p:cNvPr>
          <p:cNvSpPr/>
          <p:nvPr/>
        </p:nvSpPr>
        <p:spPr>
          <a:xfrm>
            <a:off x="7334250" y="1638300"/>
            <a:ext cx="1905000" cy="2381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 lIns="0" tIns="0" rIns="0" bIns="0" anchor="ctr"/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E6E9EF"/>
                </a:solidFill>
                <a:latin typeface="Consolas"/>
                <a:ea typeface="Consolas"/>
              </a:rPr>
              <a:t>857</a:t>
            </a:r>
          </a:p>
          <a:p>
            <a:pPr algn="ctr">
              <a:spcAft>
                <a:spcPts val="800"/>
              </a:spcAft>
            </a:pPr>
            <a:r>
              <a:rPr/>
              <a:t/>
            </a:r>
          </a:p>
          <a:p>
            <a:pPr algn="ctr"/>
            <a:r>
              <a:rPr sz="1500" b="1">
                <a:solidFill>
                  <a:srgbClr val="2FD48A"/>
                </a:solidFill>
                <a:latin typeface="Segoe UI"/>
                <a:ea typeface="Segoe UI"/>
              </a:rPr>
              <a:t>passing tests</a:t>
            </a:r>
          </a:p>
          <a:p>
            <a:pPr algn="ctr"/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money path and integrity cases included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1F01348-B19C-4EC1-8EB1-0E414029620F}"/>
              </a:ext>
            </a:extLst>
          </p:cNvPr>
          <p:cNvSpPr/>
          <p:nvPr/>
        </p:nvSpPr>
        <p:spPr>
          <a:xfrm>
            <a:off x="9525000" y="1638300"/>
            <a:ext cx="1905000" cy="2381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 lIns="0" tIns="0" rIns="0" bIns="0" anchor="ctr"/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E6E9EF"/>
                </a:solidFill>
                <a:latin typeface="Consolas"/>
                <a:ea typeface="Consolas"/>
              </a:rPr>
              <a:t>24/7</a:t>
            </a:r>
          </a:p>
          <a:p>
            <a:pPr algn="ctr">
              <a:spcAft>
                <a:spcPts val="800"/>
              </a:spcAft>
            </a:pPr>
            <a:r>
              <a:rPr/>
              <a:t/>
            </a:r>
          </a:p>
          <a:p>
            <a:pPr algn="ctr"/>
            <a:r>
              <a:rPr sz="1500" b="1">
                <a:solidFill>
                  <a:srgbClr val="2FD48A"/>
                </a:solidFill>
                <a:latin typeface="Segoe UI"/>
                <a:ea typeface="Segoe UI"/>
              </a:rPr>
              <a:t>supervised</a:t>
            </a:r>
          </a:p>
          <a:p>
            <a:pPr algn="ctr"/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watchdog, tunnel, token-gated API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335880F-2194-4688-9473-B81AEF09A60B}"/>
              </a:ext>
            </a:extLst>
          </p:cNvPr>
          <p:cNvSpPr/>
          <p:nvPr/>
        </p:nvSpPr>
        <p:spPr>
          <a:xfrm>
            <a:off x="762000" y="4552950"/>
            <a:ext cx="10668000" cy="12573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45000"/>
              </a:lnSpc>
            </a:pPr>
            <a:r>
              <a:rPr sz="1700" b="1">
                <a:solidFill>
                  <a:srgbClr val="F0B429"/>
                </a:solidFill>
                <a:latin typeface="Segoe UI"/>
                <a:ea typeface="Segoe UI"/>
              </a:rPr>
              <a:t>Not a fund. No client money. No licence. No assets under management.</a:t>
            </a:r>
          </a:p>
          <a:p>
            <a:pPr algn="ctr"/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The commercially interesting parts are the risk layer and the journal, not a performance curve — because there is no performance curve yet.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2CFAEC5-6228-4E23-92C7-13C076A8786A}"/>
              </a:ext>
            </a:extLst>
          </p:cNvPr>
          <p:cNvSpPr txBox="1"/>
          <p:nvPr/>
        </p:nvSpPr>
        <p:spPr>
          <a:xfrm>
            <a:off x="762000" y="6076950"/>
            <a:ext cx="10668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figures verified against the repository on 2026-10-24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4090F08-E66B-4C22-8CBB-B3264064D214}"/>
              </a:ext>
            </a:extLst>
          </p:cNvPr>
          <p:cNvSpPr txBox="1"/>
          <p:nvPr/>
        </p:nvSpPr>
        <p:spPr>
          <a:xfrm>
            <a:off x="762000" y="495300"/>
            <a:ext cx="95250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Out-of-sample: 4 of 14 profitable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2E006EE-EC15-49A0-B0E8-806D12C30504}"/>
              </a:ext>
            </a:extLst>
          </p:cNvPr>
          <p:cNvSpPr txBox="1"/>
          <p:nvPr/>
        </p:nvSpPr>
        <p:spPr>
          <a:xfrm>
            <a:off x="762000" y="1104900"/>
            <a:ext cx="8572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One blended signal, weights from a 2,592-point grid search, PSX commission and slippage modelled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04BDE4-721E-4862-9B17-80A6E9AA19B7}"/>
              </a:ext>
            </a:extLst>
          </p:cNvPr>
          <p:cNvSpPr txBox="1"/>
          <p:nvPr/>
        </p:nvSpPr>
        <p:spPr>
          <a:xfrm>
            <a:off x="3286125" y="15430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NET RETURN AFTER COSTS, %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31125D1-39C3-405B-8952-13A8787E8E65}"/>
              </a:ext>
            </a:extLst>
          </p:cNvPr>
          <p:cNvSpPr/>
          <p:nvPr/>
        </p:nvSpPr>
        <p:spPr>
          <a:xfrm>
            <a:off x="3238500" y="1771650"/>
            <a:ext cx="9525" cy="3333750"/>
          </a:xfrm>
          <a:prstGeom prst="rect">
            <a:avLst/>
          </a:prstGeom>
          <a:solidFill>
            <a:srgbClr val="232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392C759-2914-44EF-AB5F-D9DAD755985F}"/>
              </a:ext>
            </a:extLst>
          </p:cNvPr>
          <p:cNvSpPr txBox="1"/>
          <p:nvPr/>
        </p:nvSpPr>
        <p:spPr>
          <a:xfrm>
            <a:off x="762000" y="180975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SILVER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43F7189-9783-44C0-886F-5D48ECD2DA74}"/>
              </a:ext>
            </a:extLst>
          </p:cNvPr>
          <p:cNvSpPr/>
          <p:nvPr/>
        </p:nvSpPr>
        <p:spPr>
          <a:xfrm>
            <a:off x="3248025" y="1819275"/>
            <a:ext cx="2857500" cy="2095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B147706-E9C7-4E28-B695-9D70D7CB2069}"/>
              </a:ext>
            </a:extLst>
          </p:cNvPr>
          <p:cNvSpPr txBox="1"/>
          <p:nvPr/>
        </p:nvSpPr>
        <p:spPr>
          <a:xfrm>
            <a:off x="6200775" y="180975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+46.2%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DC07419-F47F-4002-9230-257757F97A20}"/>
              </a:ext>
            </a:extLst>
          </p:cNvPr>
          <p:cNvSpPr txBox="1"/>
          <p:nvPr/>
        </p:nvSpPr>
        <p:spPr>
          <a:xfrm>
            <a:off x="762000" y="224790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WHEAT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31AD64D-F939-4871-9B83-14C86DA55C6E}"/>
              </a:ext>
            </a:extLst>
          </p:cNvPr>
          <p:cNvSpPr/>
          <p:nvPr/>
        </p:nvSpPr>
        <p:spPr>
          <a:xfrm>
            <a:off x="3248025" y="2257425"/>
            <a:ext cx="1685925" cy="2095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A267E2C-427A-423D-9079-A79CA6D85C71}"/>
              </a:ext>
            </a:extLst>
          </p:cNvPr>
          <p:cNvSpPr txBox="1"/>
          <p:nvPr/>
        </p:nvSpPr>
        <p:spPr>
          <a:xfrm>
            <a:off x="5029200" y="22479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+27.2%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E7D9ABD-B754-4ACF-BD8A-20CE0E3785A3}"/>
              </a:ext>
            </a:extLst>
          </p:cNvPr>
          <p:cNvSpPr txBox="1"/>
          <p:nvPr/>
        </p:nvSpPr>
        <p:spPr>
          <a:xfrm>
            <a:off x="762000" y="268605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GOLD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6FC7051-4B4C-43E2-AC84-A63DBE5C42FC}"/>
              </a:ext>
            </a:extLst>
          </p:cNvPr>
          <p:cNvSpPr/>
          <p:nvPr/>
        </p:nvSpPr>
        <p:spPr>
          <a:xfrm>
            <a:off x="3248025" y="2695575"/>
            <a:ext cx="1514475" cy="2095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43EDA46-1A71-448F-91BB-B1524D9127BF}"/>
              </a:ext>
            </a:extLst>
          </p:cNvPr>
          <p:cNvSpPr txBox="1"/>
          <p:nvPr/>
        </p:nvSpPr>
        <p:spPr>
          <a:xfrm>
            <a:off x="4857750" y="268605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+24.5%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F5BB561-7685-455A-A4BA-BBC3A9669D9B}"/>
              </a:ext>
            </a:extLst>
          </p:cNvPr>
          <p:cNvSpPr txBox="1"/>
          <p:nvPr/>
        </p:nvSpPr>
        <p:spPr>
          <a:xfrm>
            <a:off x="762000" y="312420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HBL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2CCB11D-0D28-478E-B9D3-924B45F21DD3}"/>
              </a:ext>
            </a:extLst>
          </p:cNvPr>
          <p:cNvSpPr/>
          <p:nvPr/>
        </p:nvSpPr>
        <p:spPr>
          <a:xfrm>
            <a:off x="3248025" y="3133725"/>
            <a:ext cx="771525" cy="2095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D28AB3B-78BD-44D9-ADD0-4866060CE06E}"/>
              </a:ext>
            </a:extLst>
          </p:cNvPr>
          <p:cNvSpPr txBox="1"/>
          <p:nvPr/>
        </p:nvSpPr>
        <p:spPr>
          <a:xfrm>
            <a:off x="4114800" y="31242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+12.4%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33E412B-0BC0-440B-8330-1EDACE3C13ED}"/>
              </a:ext>
            </a:extLst>
          </p:cNvPr>
          <p:cNvSpPr txBox="1"/>
          <p:nvPr/>
        </p:nvSpPr>
        <p:spPr>
          <a:xfrm>
            <a:off x="762000" y="356235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WTI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28E8B79E-CAC4-429A-905E-3138322DACB5}"/>
              </a:ext>
            </a:extLst>
          </p:cNvPr>
          <p:cNvSpPr/>
          <p:nvPr/>
        </p:nvSpPr>
        <p:spPr>
          <a:xfrm>
            <a:off x="3248025" y="3571875"/>
            <a:ext cx="447675" cy="2095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755ECE0-5C9E-42B3-9640-1BB7B9E57B4F}"/>
              </a:ext>
            </a:extLst>
          </p:cNvPr>
          <p:cNvSpPr txBox="1"/>
          <p:nvPr/>
        </p:nvSpPr>
        <p:spPr>
          <a:xfrm>
            <a:off x="3790950" y="356235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+7.3%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902277A-2299-474A-B08A-15CAEC800239}"/>
              </a:ext>
            </a:extLst>
          </p:cNvPr>
          <p:cNvSpPr txBox="1"/>
          <p:nvPr/>
        </p:nvSpPr>
        <p:spPr>
          <a:xfrm>
            <a:off x="762000" y="400050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BRENT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BF16929-4043-4FBB-B724-163EF1A1730C}"/>
              </a:ext>
            </a:extLst>
          </p:cNvPr>
          <p:cNvSpPr/>
          <p:nvPr/>
        </p:nvSpPr>
        <p:spPr>
          <a:xfrm>
            <a:off x="3248025" y="4010025"/>
            <a:ext cx="180975" cy="209550"/>
          </a:xfrm>
          <a:prstGeom prst="rect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6965E29-22B1-4222-9C74-B08412B7DDB1}"/>
              </a:ext>
            </a:extLst>
          </p:cNvPr>
          <p:cNvSpPr txBox="1"/>
          <p:nvPr/>
        </p:nvSpPr>
        <p:spPr>
          <a:xfrm>
            <a:off x="3524250" y="40005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+2.9%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3556FAE-4864-49B8-AD92-C909333C22C0}"/>
              </a:ext>
            </a:extLst>
          </p:cNvPr>
          <p:cNvSpPr txBox="1"/>
          <p:nvPr/>
        </p:nvSpPr>
        <p:spPr>
          <a:xfrm>
            <a:off x="762000" y="443865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NATGAS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85D2400A-8D4D-448A-88AA-CEE8A758A715}"/>
              </a:ext>
            </a:extLst>
          </p:cNvPr>
          <p:cNvSpPr/>
          <p:nvPr/>
        </p:nvSpPr>
        <p:spPr>
          <a:xfrm>
            <a:off x="2266950" y="4448175"/>
            <a:ext cx="971550" cy="209550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CDD32C8-A398-4721-BCBC-6CA22CDEBB2F}"/>
              </a:ext>
            </a:extLst>
          </p:cNvPr>
          <p:cNvSpPr txBox="1"/>
          <p:nvPr/>
        </p:nvSpPr>
        <p:spPr>
          <a:xfrm>
            <a:off x="1619250" y="4438650"/>
            <a:ext cx="59055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-15.7%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35391C0-E4B6-48EC-8F29-60B04AE47D33}"/>
              </a:ext>
            </a:extLst>
          </p:cNvPr>
          <p:cNvSpPr txBox="1"/>
          <p:nvPr/>
        </p:nvSpPr>
        <p:spPr>
          <a:xfrm>
            <a:off x="762000" y="4876800"/>
            <a:ext cx="81915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50">
                <a:solidFill>
                  <a:srgbClr val="8B94A6"/>
                </a:solidFill>
                <a:latin typeface="Consolas"/>
                <a:ea typeface="Consolas"/>
              </a:rPr>
              <a:t>OGDC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EF757462-2E2F-4DAB-A585-F0418D2860AA}"/>
              </a:ext>
            </a:extLst>
          </p:cNvPr>
          <p:cNvSpPr/>
          <p:nvPr/>
        </p:nvSpPr>
        <p:spPr>
          <a:xfrm>
            <a:off x="2257425" y="4886325"/>
            <a:ext cx="981075" cy="209550"/>
          </a:xfrm>
          <a:prstGeom prst="rect">
            <a:avLst/>
          </a:prstGeom>
          <a:solidFill>
            <a:srgbClr val="FF5C6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0F5A93B-0BF5-45FD-B570-5E4F62187545}"/>
              </a:ext>
            </a:extLst>
          </p:cNvPr>
          <p:cNvSpPr txBox="1"/>
          <p:nvPr/>
        </p:nvSpPr>
        <p:spPr>
          <a:xfrm>
            <a:off x="1609725" y="4876800"/>
            <a:ext cx="590550" cy="22860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E6E9EF"/>
                </a:solidFill>
                <a:latin typeface="Consolas"/>
                <a:ea typeface="Consolas"/>
              </a:rPr>
              <a:t>-15.8%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EA6ACE64-4FE7-4241-84EB-EB6C091546F3}"/>
              </a:ext>
            </a:extLst>
          </p:cNvPr>
          <p:cNvSpPr/>
          <p:nvPr/>
        </p:nvSpPr>
        <p:spPr>
          <a:xfrm>
            <a:off x="7334250" y="1543050"/>
            <a:ext cx="4095750" cy="36195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68962EA-D066-418F-B9D1-907E7A10689D}"/>
              </a:ext>
            </a:extLst>
          </p:cNvPr>
          <p:cNvSpPr txBox="1"/>
          <p:nvPr/>
        </p:nvSpPr>
        <p:spPr>
          <a:xfrm>
            <a:off x="7562850" y="1733550"/>
            <a:ext cx="3619500" cy="335280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E6E9EF"/>
                </a:solidFill>
                <a:latin typeface="Segoe UI"/>
                <a:ea typeface="Segoe UI"/>
              </a:rPr>
              <a:t>Reported as losses, not buried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8B94A6"/>
                </a:solidFill>
                <a:latin typeface="Consolas"/>
                <a:ea typeface="Consolas"/>
              </a:rPr>
              <a:t>MCB -3.0%     EURUSD -1.3%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8B94A6"/>
                </a:solidFill>
                <a:latin typeface="Consolas"/>
                <a:ea typeface="Consolas"/>
              </a:rPr>
              <a:t>KSE100 -5.0%     BTC -5.8%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8B94A6"/>
                </a:solidFill>
                <a:latin typeface="Consolas"/>
                <a:ea typeface="Consolas"/>
              </a:rPr>
              <a:t>COPPER -6.5%     LUCK -7.0%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8B94A6"/>
                </a:solidFill>
                <a:latin typeface="Consolas"/>
                <a:ea typeface="Consolas"/>
              </a:rPr>
              <a:t>WHEAT Sharpe 1.59 · SILVER Sharpe 1.56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8B94A6"/>
                </a:solidFill>
                <a:latin typeface="Consolas"/>
                <a:ea typeface="Consolas"/>
              </a:rPr>
              <a:t>GOLD Sharpe 1.32 · HBL Sharpe 1.39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200">
                <a:solidFill>
                  <a:srgbClr val="8B94A6"/>
                </a:solidFill>
                <a:latin typeface="Consolas"/>
                <a:ea typeface="Consolas"/>
              </a:rPr>
              <a:t>WTI Sharpe 0.44 · BRENT Sharpe 0.36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200">
                <a:solidFill>
                  <a:srgbClr val="8B94A6"/>
                </a:solidFill>
                <a:latin typeface="Segoe UI"/>
                <a:ea typeface="Segoe UI"/>
              </a:rPr>
              <a:t>All out-of-sample.</a:t>
            </a:r>
          </a:p>
          <a:p>
            <a:pPr>
              <a:lnSpc>
                <a:spcPct val="145000"/>
              </a:lnSpc>
            </a:pPr>
            <a:r>
              <a:rPr sz="1150">
                <a:solidFill>
                  <a:srgbClr val="8B94A6"/>
                </a:solidFill>
                <a:latin typeface="Segoe UI"/>
                <a:ea typeface="Segoe UI"/>
              </a:rPr>
              <a:t>Backtests are not returns: published per</a:t>
            </a:r>
          </a:p>
          <a:p>
            <a:pPr>
              <a:lnSpc>
                <a:spcPct val="145000"/>
              </a:lnSpc>
            </a:pPr>
            <a:r>
              <a:rPr sz="1150">
                <a:solidFill>
                  <a:srgbClr val="8B94A6"/>
                </a:solidFill>
                <a:latin typeface="Segoe UI"/>
                <a:ea typeface="Segoe UI"/>
              </a:rPr>
              <a:t>instrument, never averaged.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042AD64-3D7C-490F-ADD6-7EA9FE2F9ECD}"/>
              </a:ext>
            </a:extLst>
          </p:cNvPr>
          <p:cNvSpPr txBox="1"/>
          <p:nvPr/>
        </p:nvSpPr>
        <p:spPr>
          <a:xfrm>
            <a:off x="7334250" y="5334000"/>
            <a:ext cx="48577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GOLD beat buy-and-hold (+8.9%). WTI did not (+62.4%) — a</a:t>
            </a:r>
          </a:p>
          <a:p>
            <a:pPr>
              <a:lnSpc>
                <a:spcPct val="145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risk-adjusted win is not the same as an absolute one, and the deck</a:t>
            </a:r>
          </a:p>
          <a:p>
            <a:pPr>
              <a:lnSpc>
                <a:spcPct val="145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says so.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A6B927A-22F8-4525-8E2E-CDD34EBE56AC}"/>
              </a:ext>
            </a:extLst>
          </p:cNvPr>
          <p:cNvSpPr txBox="1"/>
          <p:nvPr/>
        </p:nvSpPr>
        <p:spPr>
          <a:xfrm>
            <a:off x="762000" y="5905500"/>
            <a:ext cx="5905500" cy="2476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rebuilt from reports/backtest logs by tools/make_track_record.py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7A458CC-EC23-4EE9-BFC6-ED1B98D1527F}"/>
              </a:ext>
            </a:extLst>
          </p:cNvPr>
          <p:cNvSpPr txBox="1"/>
          <p:nvPr/>
        </p:nvSpPr>
        <p:spPr>
          <a:xfrm>
            <a:off x="762000" y="495300"/>
            <a:ext cx="95250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The finding that matters most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600936-E869-419C-9BE4-7F2F72858F61}"/>
              </a:ext>
            </a:extLst>
          </p:cNvPr>
          <p:cNvSpPr txBox="1"/>
          <p:nvPr/>
        </p:nvSpPr>
        <p:spPr>
          <a:xfrm>
            <a:off x="762000" y="1104900"/>
            <a:ext cx="95250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PSX equities lose money net of local costs, and that is a market fact, not a bug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C800641-0F64-44BD-8726-6B5CC93622F8}"/>
              </a:ext>
            </a:extLst>
          </p:cNvPr>
          <p:cNvSpPr/>
          <p:nvPr/>
        </p:nvSpPr>
        <p:spPr>
          <a:xfrm>
            <a:off x="762000" y="1676400"/>
            <a:ext cx="5191125" cy="25527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36695BD-7FCC-4411-9BD3-54A2D1BAA24C}"/>
              </a:ext>
            </a:extLst>
          </p:cNvPr>
          <p:cNvSpPr/>
          <p:nvPr/>
        </p:nvSpPr>
        <p:spPr>
          <a:xfrm>
            <a:off x="6238875" y="1676400"/>
            <a:ext cx="5191125" cy="25527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B4CA3F-E643-45F7-B35A-B5F6AC828551}"/>
              </a:ext>
            </a:extLst>
          </p:cNvPr>
          <p:cNvSpPr txBox="1"/>
          <p:nvPr/>
        </p:nvSpPr>
        <p:spPr>
          <a:xfrm>
            <a:off x="1066800" y="2038350"/>
            <a:ext cx="4381500" cy="1219200"/>
          </a:xfrm>
        </p:spPr>
        <p:txBody>
          <a:bodyPr wrap="square" rtlCol="0" lIns="0" tIns="0" rIns="0" bIns="0" anchor="t"/>
          <a:lstStyle/>
          <a:p>
            <a:pPr>
              <a:lnSpc>
                <a:spcPct val="100000"/>
              </a:lnSpc>
            </a:pPr>
            <a:r>
              <a:rPr sz="8000" b="1">
                <a:solidFill>
                  <a:srgbClr val="FF5C6C"/>
                </a:solidFill>
                <a:latin typeface="Consolas"/>
                <a:ea typeface="Consolas"/>
              </a:rPr>
              <a:t>-3.7%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A83FBE-3153-44D0-B944-A57062E9A5F6}"/>
              </a:ext>
            </a:extLst>
          </p:cNvPr>
          <p:cNvSpPr txBox="1"/>
          <p:nvPr/>
        </p:nvSpPr>
        <p:spPr>
          <a:xfrm>
            <a:off x="1066800" y="3238500"/>
            <a:ext cx="43815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E6E9EF"/>
                </a:solidFill>
                <a:latin typeface="Segoe UI"/>
                <a:ea typeface="Segoe UI"/>
              </a:rPr>
              <a:t>PSX equity book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FF1AEF-F1BA-49B1-8FB9-86D6CD3E337B}"/>
              </a:ext>
            </a:extLst>
          </p:cNvPr>
          <p:cNvSpPr txBox="1"/>
          <p:nvPr/>
        </p:nvSpPr>
        <p:spPr>
          <a:xfrm>
            <a:off x="1066800" y="3543300"/>
            <a:ext cx="4381500" cy="554736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mean net return out-of-sample across the five PSX names in the sweep. Only one of them finished positive.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DCF655C-AA55-4348-BD73-D94F87E5F207}"/>
              </a:ext>
            </a:extLst>
          </p:cNvPr>
          <p:cNvSpPr txBox="1"/>
          <p:nvPr/>
        </p:nvSpPr>
        <p:spPr>
          <a:xfrm>
            <a:off x="6543675" y="2038350"/>
            <a:ext cx="4667250" cy="1219200"/>
          </a:xfrm>
        </p:spPr>
        <p:txBody>
          <a:bodyPr wrap="square" rtlCol="0" lIns="0" tIns="0" rIns="0" bIns="0" anchor="t"/>
          <a:lstStyle/>
          <a:p>
            <a:pPr>
              <a:lnSpc>
                <a:spcPct val="100000"/>
              </a:lnSpc>
            </a:pPr>
            <a:r>
              <a:rPr sz="8000" b="1">
                <a:solidFill>
                  <a:srgbClr val="2FD48A"/>
                </a:solidFill>
                <a:latin typeface="Consolas"/>
                <a:ea typeface="Consolas"/>
              </a:rPr>
              <a:t>+8.8%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C390704-6B17-4899-A9D1-476DFD589FF2}"/>
              </a:ext>
            </a:extLst>
          </p:cNvPr>
          <p:cNvSpPr txBox="1"/>
          <p:nvPr/>
        </p:nvSpPr>
        <p:spPr>
          <a:xfrm>
            <a:off x="6543675" y="3238500"/>
            <a:ext cx="43815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E6E9EF"/>
                </a:solidFill>
                <a:latin typeface="Segoe UI"/>
                <a:ea typeface="Segoe UI"/>
              </a:rPr>
              <a:t>Global book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2736793-562C-44DF-B703-C2AD1DA1A230}"/>
              </a:ext>
            </a:extLst>
          </p:cNvPr>
          <p:cNvSpPr txBox="1"/>
          <p:nvPr/>
        </p:nvSpPr>
        <p:spPr>
          <a:xfrm>
            <a:off x="6543675" y="3543300"/>
            <a:ext cx="4381500" cy="554736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mean net return across 9 FX, commodity and crypto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instruments on the same engine and the same risk layer.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B64800D-3B26-452B-B3B9-17B377FE2544}"/>
              </a:ext>
            </a:extLst>
          </p:cNvPr>
          <p:cNvSpPr/>
          <p:nvPr/>
        </p:nvSpPr>
        <p:spPr>
          <a:xfrm>
            <a:off x="762000" y="4476750"/>
            <a:ext cx="10668000" cy="16002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2795362-4F5C-4FE6-AFB0-90C33160F674}"/>
              </a:ext>
            </a:extLst>
          </p:cNvPr>
          <p:cNvSpPr txBox="1"/>
          <p:nvPr/>
        </p:nvSpPr>
        <p:spPr>
          <a:xfrm>
            <a:off x="1066800" y="4724400"/>
            <a:ext cx="10096500" cy="1400048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F0B429"/>
                </a:solidFill>
                <a:latin typeface="Segoe UI"/>
                <a:ea typeface="Segoe UI"/>
              </a:rPr>
              <a:t>A round trip in PSX costs roughly 8% of notional.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350">
                <a:solidFill>
                  <a:srgbClr val="E6E9EF"/>
                </a:solidFill>
                <a:latin typeface="Segoe UI"/>
                <a:ea typeface="Segoe UI"/>
              </a:rPr>
              <a:t>Commission, CPDC/CDNS fees and slippage on thin books eat the signal before it can pay. Every position here is sized against cost first and conviction second.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Roadmap step 2 states the same thing plainly: fix the cost problem, or drop PSX equities.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C5B1BF0-A178-49FD-BA8B-FADB9C3AC664}"/>
              </a:ext>
            </a:extLst>
          </p:cNvPr>
          <p:cNvSpPr txBox="1"/>
          <p:nvPr/>
        </p:nvSpPr>
        <p:spPr>
          <a:xfrm>
            <a:off x="762000" y="6286500"/>
            <a:ext cx="8572500" cy="2476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5 equities vs 9 global instruments · same risk layer, same cost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A984015-45C1-41F5-A684-52F5FE7B2BF6}"/>
              </a:ext>
            </a:extLst>
          </p:cNvPr>
          <p:cNvSpPr txBox="1"/>
          <p:nvPr/>
        </p:nvSpPr>
        <p:spPr>
          <a:xfrm>
            <a:off x="762000" y="495300"/>
            <a:ext cx="8572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What is not proven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67F213B-858B-41CC-9A8D-3AA9CE5B02A2}"/>
              </a:ext>
            </a:extLst>
          </p:cNvPr>
          <p:cNvSpPr txBox="1"/>
          <p:nvPr/>
        </p:nvSpPr>
        <p:spPr>
          <a:xfrm>
            <a:off x="762000" y="1104900"/>
            <a:ext cx="76200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the column on the right is the reason a pilot exists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3D69AE9-7E54-41FA-B1C8-6F755B1B95ED}"/>
              </a:ext>
            </a:extLst>
          </p:cNvPr>
          <p:cNvSpPr/>
          <p:nvPr/>
        </p:nvSpPr>
        <p:spPr>
          <a:xfrm>
            <a:off x="762000" y="1638300"/>
            <a:ext cx="5191125" cy="43815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AFD11BE-54F6-4149-85B8-77D1FC1919A1}"/>
              </a:ext>
            </a:extLst>
          </p:cNvPr>
          <p:cNvSpPr/>
          <p:nvPr/>
        </p:nvSpPr>
        <p:spPr>
          <a:xfrm>
            <a:off x="6238875" y="1638300"/>
            <a:ext cx="5191125" cy="43815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3A322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931D31F-C502-46B6-B564-020B718EA4F9}"/>
              </a:ext>
            </a:extLst>
          </p:cNvPr>
          <p:cNvSpPr txBox="1"/>
          <p:nvPr/>
        </p:nvSpPr>
        <p:spPr>
          <a:xfrm>
            <a:off x="1066800" y="1905000"/>
            <a:ext cx="4572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FD48A"/>
                </a:solidFill>
                <a:latin typeface="Consolas"/>
                <a:ea typeface="Consolas"/>
              </a:rPr>
              <a:t>ESTABLISHED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9E612FA-DE14-412E-82A1-5DBB5D6AEF54}"/>
              </a:ext>
            </a:extLst>
          </p:cNvPr>
          <p:cNvSpPr txBox="1"/>
          <p:nvPr/>
        </p:nvSpPr>
        <p:spPr>
          <a:xfrm>
            <a:off x="1066800" y="2171700"/>
            <a:ext cx="4572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E6E9EF"/>
                </a:solidFill>
                <a:latin typeface="Segoe UI"/>
                <a:ea typeface="Segoe UI"/>
              </a:rPr>
              <a:t>It runs, and it records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83E1904-92B4-4076-A786-F2CD0D21C613}"/>
              </a:ext>
            </a:extLst>
          </p:cNvPr>
          <p:cNvSpPr txBox="1"/>
          <p:nvPr/>
        </p:nvSpPr>
        <p:spPr>
          <a:xfrm>
            <a:off x="1066800" y="2590800"/>
            <a:ext cx="4572000" cy="3387090"/>
          </a:xfrm>
        </p:spPr>
        <p:txBody>
          <a:bodyPr wrap="square" rtlCol="0" lIns="0" tIns="0" rIns="0" bIns="0" anchor="t"/>
          <a:lstStyle/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Signals across PSX, FX, commodities and crypto, sized by a layered risk gate on a 10-minute loop.</a:t>
            </a:r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Every prediction, gate decision, arming event and kill-switch flip appended to on-disk JSONL.</a:t>
            </a:r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Walk-forward sweep with Pakistani costs modelled, reproducible with one CLI command.</a:t>
            </a:r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A public repository: 18,043 lines of Python, 43 modules, 857 passing tests, MIT.</a:t>
            </a:r>
          </a:p>
          <a:p>
            <a:pPr marL="228600" indent="-228600">
              <a:lnSpc>
                <a:spcPct val="135000"/>
              </a:lnSpc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Execution that refuses to place an order when any gate is unclear.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DE27F36-8D22-4458-9781-50AE176D2C83}"/>
              </a:ext>
            </a:extLst>
          </p:cNvPr>
          <p:cNvSpPr txBox="1"/>
          <p:nvPr/>
        </p:nvSpPr>
        <p:spPr>
          <a:xfrm>
            <a:off x="6543675" y="1905000"/>
            <a:ext cx="4572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0B429"/>
                </a:solidFill>
                <a:latin typeface="Consolas"/>
                <a:ea typeface="Consolas"/>
              </a:rPr>
              <a:t>NOT ESTABLISHED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33A456C-3721-4054-AFF0-03BDFBB8116A}"/>
              </a:ext>
            </a:extLst>
          </p:cNvPr>
          <p:cNvSpPr txBox="1"/>
          <p:nvPr/>
        </p:nvSpPr>
        <p:spPr>
          <a:xfrm>
            <a:off x="6543675" y="2171700"/>
            <a:ext cx="4572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E6E9EF"/>
                </a:solidFill>
                <a:latin typeface="Segoe UI"/>
                <a:ea typeface="Segoe UI"/>
              </a:rPr>
              <a:t>There is no track record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B1413E4-ECD1-4C03-9E8A-193223C02599}"/>
              </a:ext>
            </a:extLst>
          </p:cNvPr>
          <p:cNvSpPr txBox="1"/>
          <p:nvPr/>
        </p:nvSpPr>
        <p:spPr>
          <a:xfrm>
            <a:off x="6543675" y="2590800"/>
            <a:ext cx="4572000" cy="3387090"/>
          </a:xfrm>
        </p:spPr>
        <p:txBody>
          <a:bodyPr wrap="square" rtlCol="0" lIns="0" tIns="0" rIns="0" bIns="0" anchor="t"/>
          <a:lstStyle/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E6E9EF"/>
                </a:solidFill>
                <a:latin typeface="Segoe UI"/>
                <a:ea typeface="Segoe UI"/>
              </a:rPr>
              <a:t>404 horizons matured, and all 404 were non-trades.</a:t>
            </a:r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E6E9EF"/>
                </a:solidFill>
                <a:latin typeface="Segoe UI"/>
                <a:ea typeface="Segoe UI"/>
              </a:rPr>
              <a:t>No directional hit rate exists: a non-trade cannot be a correct prediction.</a:t>
            </a:r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Paper book: -Rs 13.05 realized on Rs 1,000,000, 2 fills.</a:t>
            </a:r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Live orders: built, capped, staging-tested; never exercised at scale.</a:t>
            </a:r>
          </a:p>
          <a:p>
            <a:pPr marL="228600" indent="-228600">
              <a:lnSpc>
                <a:spcPct val="135000"/>
              </a:lnSpc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No audit, no team, no AUM, no licence.</a:t>
            </a:r>
          </a:p>
          <a:p>
            <a:pPr marL="228600" indent="-228600">
              <a:lnSpc>
                <a:spcPct val="135000"/>
              </a:lnSpc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The prediction count moves every ten minutes, so the dated ledger holds it.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6826530-EBC0-4CCB-B25D-380C131EC810}"/>
              </a:ext>
            </a:extLst>
          </p:cNvPr>
          <p:cNvSpPr txBox="1"/>
          <p:nvPr/>
        </p:nvSpPr>
        <p:spPr>
          <a:xfrm>
            <a:off x="762000" y="6248400"/>
            <a:ext cx="10668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0B429"/>
                </a:solidFill>
                <a:latin typeface="Segoe UI"/>
                <a:ea typeface="Segoe UI"/>
              </a:rPr>
              <a:t>The only deliverable of a pilot is the record this page says is missing.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A5A795E-8003-42E9-AB45-47A85CC7C7E4}"/>
              </a:ext>
            </a:extLst>
          </p:cNvPr>
          <p:cNvSpPr txBox="1"/>
          <p:nvPr/>
        </p:nvSpPr>
        <p:spPr>
          <a:xfrm>
            <a:off x="762000" y="495300"/>
            <a:ext cx="10477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Our own scorer reported a 100% hit rate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911567A-6C92-4906-A7C4-11412F34F60B}"/>
              </a:ext>
            </a:extLst>
          </p:cNvPr>
          <p:cNvSpPr txBox="1"/>
          <p:nvPr/>
        </p:nvSpPr>
        <p:spPr>
          <a:xfrm>
            <a:off x="762000" y="1104900"/>
            <a:ext cx="10477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it was counting non-trades as correct predictions, and the money system believed it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A3D5E58-E675-4940-A8D9-DE68A0512D15}"/>
              </a:ext>
            </a:extLst>
          </p:cNvPr>
          <p:cNvSpPr/>
          <p:nvPr/>
        </p:nvSpPr>
        <p:spPr>
          <a:xfrm>
            <a:off x="762000" y="1676400"/>
            <a:ext cx="4191000" cy="26670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B601C6-F3C6-4DFC-A0E3-81381FAB0F8A}"/>
              </a:ext>
            </a:extLst>
          </p:cNvPr>
          <p:cNvSpPr txBox="1"/>
          <p:nvPr/>
        </p:nvSpPr>
        <p:spPr>
          <a:xfrm>
            <a:off x="1428750" y="2152650"/>
            <a:ext cx="2857500" cy="1158240"/>
          </a:xfrm>
        </p:spPr>
        <p:txBody>
          <a:bodyPr wrap="square" rtlCol="0" lIns="0" tIns="0" rIns="0" bIns="0" anchor="t"/>
          <a:lstStyle/>
          <a:p>
            <a:pPr>
              <a:lnSpc>
                <a:spcPct val="100000"/>
              </a:lnSpc>
            </a:pPr>
            <a:r>
              <a:rPr sz="7600" b="1">
                <a:solidFill>
                  <a:srgbClr val="5A6478"/>
                </a:solidFill>
                <a:latin typeface="Consolas"/>
                <a:ea typeface="Consolas"/>
              </a:rPr>
              <a:t>100%</a:t>
            </a: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20C9B78D-ACD5-41C3-889B-CC29A46CA793}"/>
              </a:ext>
            </a:extLst>
          </p:cNvPr>
          <p:cNvCxnSpPr/>
          <p:nvPr/>
        </p:nvCxnSpPr>
        <p:spPr>
          <a:xfrm>
            <a:off x="1476375" y="2343150"/>
            <a:ext cx="2381250" cy="666750"/>
          </a:xfrm>
          <a:prstGeom prst="line">
            <a:avLst/>
          </a:prstGeom>
          <a:ln w="50800" cap="flat">
            <a:solidFill>
              <a:srgbClr val="FF5C6C"/>
            </a:solidFill>
          </a:ln>
        </p:spPr>
      </p:cxnSp>
      <p:sp>
        <p:nvSpPr>
          <p:cNvPr id="8" name="TextBox 8">
            <a:extLst>
              <a:ext uri="{FF2B5EF4-FFF2-40B4-BE49-F238E27FC236}">
                <a16:creationId xmlns:a16="http://schemas.microsoft.com/office/drawing/2014/main" id="{B2A2EA68-9B92-48C4-B23C-E46D4D091AA1}"/>
              </a:ext>
            </a:extLst>
          </p:cNvPr>
          <p:cNvSpPr txBox="1"/>
          <p:nvPr/>
        </p:nvSpPr>
        <p:spPr>
          <a:xfrm>
            <a:off x="1047750" y="3352800"/>
            <a:ext cx="3619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E6E9EF"/>
                </a:solidFill>
                <a:latin typeface="Segoe UI"/>
                <a:ea typeface="Segoe UI"/>
              </a:rPr>
              <a:t>Every snapshot it had resolved was graded a win. Not one of them was a call.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DB881A8-BD1F-4722-96F2-92F8242EBF5D}"/>
              </a:ext>
            </a:extLst>
          </p:cNvPr>
          <p:cNvSpPr txBox="1"/>
          <p:nvPr/>
        </p:nvSpPr>
        <p:spPr>
          <a:xfrm>
            <a:off x="1047750" y="3905250"/>
            <a:ext cx="36195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35000"/>
              </a:lnSpc>
            </a:pPr>
            <a:r>
              <a:rPr sz="1350">
                <a:solidFill>
                  <a:srgbClr val="FF5C6C"/>
                </a:solidFill>
                <a:latin typeface="Segoe UI"/>
                <a:ea typeface="Segoe UI"/>
              </a:rPr>
              <a:t>Worse: the fabricated accuracy fed a 1.05x confidence bonus into live entry thresholds.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ADEE415-1F96-477D-8C55-5E76E2685837}"/>
              </a:ext>
            </a:extLst>
          </p:cNvPr>
          <p:cNvSpPr/>
          <p:nvPr/>
        </p:nvSpPr>
        <p:spPr>
          <a:xfrm>
            <a:off x="5334000" y="1676400"/>
            <a:ext cx="6096000" cy="22479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3A322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BFB246-A4EA-43BA-900E-2A54D2A40822}"/>
              </a:ext>
            </a:extLst>
          </p:cNvPr>
          <p:cNvSpPr txBox="1"/>
          <p:nvPr/>
        </p:nvSpPr>
        <p:spPr>
          <a:xfrm>
            <a:off x="5638800" y="1905000"/>
            <a:ext cx="5334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F0B429"/>
                </a:solidFill>
                <a:latin typeface="Consolas"/>
                <a:ea typeface="Consolas"/>
              </a:rPr>
              <a:t>HOW THE BUG WORKED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198AC4F-30B2-4540-9E62-76D9AFE0C85E}"/>
              </a:ext>
            </a:extLst>
          </p:cNvPr>
          <p:cNvSpPr txBox="1"/>
          <p:nvPr/>
        </p:nvSpPr>
        <p:spPr>
          <a:xfrm>
            <a:off x="5638800" y="2190750"/>
            <a:ext cx="5334000" cy="1642745"/>
          </a:xfrm>
        </p:spPr>
        <p:txBody>
          <a:bodyPr wrap="square" rtlCol="0" lIns="0" tIns="0" rIns="0" bIns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Any score inside the no-trade band resolved as correct, so every HOLD was a win.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If the horizon's bars had not printed yet, the grade clamped to the last flat bar and called it resolved.</a:t>
            </a:r>
          </a:p>
          <a:p>
            <a:pPr marL="228600" indent="-228600">
              <a:lnSpc>
                <a:spcPct val="135000"/>
              </a:lnSpc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A 5-day call scored on one flat bar read as a perfect prediction.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8D15977-586B-4361-989B-F1A3FFC0479C}"/>
              </a:ext>
            </a:extLst>
          </p:cNvPr>
          <p:cNvSpPr/>
          <p:nvPr/>
        </p:nvSpPr>
        <p:spPr>
          <a:xfrm>
            <a:off x="5334000" y="4076700"/>
            <a:ext cx="6096000" cy="22479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1D3B2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D3ECAF3-1032-4DE2-BE01-B4EB3E94DE39}"/>
              </a:ext>
            </a:extLst>
          </p:cNvPr>
          <p:cNvSpPr txBox="1"/>
          <p:nvPr/>
        </p:nvSpPr>
        <p:spPr>
          <a:xfrm>
            <a:off x="5638800" y="4305300"/>
            <a:ext cx="5334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FD48A"/>
                </a:solidFill>
                <a:latin typeface="Consolas"/>
                <a:ea typeface="Consolas"/>
              </a:rPr>
              <a:t>WHAT REPLACED IT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524ABDF-CA19-4A24-957D-96EDC2ACE1EF}"/>
              </a:ext>
            </a:extLst>
          </p:cNvPr>
          <p:cNvSpPr txBox="1"/>
          <p:nvPr/>
        </p:nvSpPr>
        <p:spPr>
          <a:xfrm>
            <a:off x="5638800" y="4591050"/>
            <a:ext cx="5334000" cy="1619250"/>
          </a:xfrm>
        </p:spPr>
        <p:txBody>
          <a:bodyPr wrap="square" rtlCol="0" lIns="0" tIns="0" rIns="0" bIns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A prediction counts only if the score clears the entry threshold.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A snapshot resolves only when the bars for its horizon exist.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Confidence pinned to 1.0 until 10 directional calls mature.</a:t>
            </a:r>
          </a:p>
          <a:p>
            <a:pPr marL="228600" indent="-228600">
              <a:lnSpc>
                <a:spcPct val="135000"/>
              </a:lnSpc>
              <a:buChar char="•"/>
            </a:pPr>
            <a:r>
              <a:rPr sz="1350">
                <a:solidFill>
                  <a:srgbClr val="8B94A6"/>
                </a:solidFill>
                <a:latin typeface="Segoe UI"/>
                <a:ea typeface="Segoe UI"/>
              </a:rPr>
              <a:t>Eight regression tests, so it cannot come back quietly.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239FD3D-0043-45BA-A444-B3D06AFAA431}"/>
              </a:ext>
            </a:extLst>
          </p:cNvPr>
          <p:cNvSpPr txBox="1"/>
          <p:nvPr/>
        </p:nvSpPr>
        <p:spPr>
          <a:xfrm>
            <a:off x="762000" y="6400800"/>
            <a:ext cx="10668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0B429"/>
                </a:solidFill>
                <a:latin typeface="Segoe UI"/>
                <a:ea typeface="Segoe UI"/>
              </a:rPr>
              <a:t>Our own audit caught it before a live account paid for it. That is the product.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2EC8335-72F2-460D-B031-1C4EBA5F0A03}"/>
              </a:ext>
            </a:extLst>
          </p:cNvPr>
          <p:cNvSpPr/>
          <p:nvPr/>
        </p:nvSpPr>
        <p:spPr>
          <a:xfrm>
            <a:off x="762000" y="4476750"/>
            <a:ext cx="4191000" cy="1866900"/>
          </a:xfrm>
          <a:prstGeom prst="rect">
            <a:avLst/>
          </a:prstGeom>
          <a:solidFill>
            <a:srgbClr val="11151D"/>
          </a:solidFill>
          <a:ln w="12700">
            <a:solidFill>
              <a:srgbClr val="3A322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1BF8D94-371C-48A6-9EB9-44681AF8EA05}"/>
              </a:ext>
            </a:extLst>
          </p:cNvPr>
          <p:cNvSpPr txBox="1"/>
          <p:nvPr/>
        </p:nvSpPr>
        <p:spPr>
          <a:xfrm>
            <a:off x="1047750" y="4665250"/>
            <a:ext cx="3619500" cy="285750"/>
          </a:xfrm>
        </p:spPr>
        <p:txBody>
          <a:bodyPr wrap="square" rtlCol="0"/>
          <a:lstStyle/>
          <a:p>
            <a:pPr algn="l"/>
            <a:r>
              <a:rPr sz="1200" b="1">
                <a:solidFill>
                  <a:srgbClr val="F0B429"/>
                </a:solidFill>
              </a:rPr>
              <a:t>AND THEN MORE, ALL BY READING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E3A14A-E3E6-47D8-B5BD-23D8C13F16BE}"/>
              </a:ext>
            </a:extLst>
          </p:cNvPr>
          <p:cNvSpPr txBox="1"/>
          <p:nvPr/>
        </p:nvSpPr>
        <p:spPr>
          <a:xfrm>
            <a:off x="1047750" y="4972050"/>
            <a:ext cx="3619500" cy="1352550"/>
          </a:xfrm>
        </p:spPr>
        <p:txBody>
          <a:bodyPr wrap="square" rtlCol="0">
            <a:normAutofit fontScale="77500" lnSpcReduction="10000"/>
          </a:bodyPr>
          <a:lstStyle/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Risk limits froze at process start; a tightened loss cap bound only after a restart.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Ledgers were written in place — a torn write reset the paper book to full capital.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The test suite could arm live mode and write the production audit trail.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A restart reported LIVE while running paper; a score read today's threshold as history.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A suspended provider was published healthy; one strategy could never vote long.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The guardrail against stale figures had stale figures of its own — including its date.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The audit trail could stop quietly; both order doors refuse a trade it cannot record.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One daily loss limit had two names; the tighter one now stops both doors, and names itself.</a:t>
            </a:r>
          </a:p>
          <a:p>
            <a:pPr marL="228600" indent="-228600" algn="l">
              <a:lnSpc>
                <a:spcPct val="100000"/>
              </a:lnSpc>
              <a:buChar char="•"/>
            </a:pPr>
            <a:r>
              <a:rPr sz="600">
                <a:solidFill>
                  <a:srgbClr val="8B94A6"/>
                </a:solidFill>
              </a:rPr>
              <a:t>The order queue rebuilt itself from its own unreadable read; now it refuses and says where.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3EACD9C-7D51-4900-B241-13EE5B740127}"/>
              </a:ext>
            </a:extLst>
          </p:cNvPr>
          <p:cNvSpPr txBox="1"/>
          <p:nvPr/>
        </p:nvSpPr>
        <p:spPr>
          <a:xfrm>
            <a:off x="762000" y="495300"/>
            <a:ext cx="8572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Architecture that transfers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FF82534-E85F-418C-86C4-1B63E1E34B8F}"/>
              </a:ext>
            </a:extLst>
          </p:cNvPr>
          <p:cNvSpPr txBox="1"/>
          <p:nvPr/>
        </p:nvSpPr>
        <p:spPr>
          <a:xfrm>
            <a:off x="762000" y="1104900"/>
            <a:ext cx="76200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six properties worth more than any single signal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8AC0DF8-7812-4666-9B6A-EF9FF71D4FE5}"/>
              </a:ext>
            </a:extLst>
          </p:cNvPr>
          <p:cNvSpPr/>
          <p:nvPr/>
        </p:nvSpPr>
        <p:spPr>
          <a:xfrm>
            <a:off x="762000" y="1638300"/>
            <a:ext cx="3295650" cy="2133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2158766-1CD6-4467-9ADB-457C47B4D5A9}"/>
              </a:ext>
            </a:extLst>
          </p:cNvPr>
          <p:cNvSpPr/>
          <p:nvPr/>
        </p:nvSpPr>
        <p:spPr>
          <a:xfrm>
            <a:off x="4448175" y="1638300"/>
            <a:ext cx="3295650" cy="2133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9E59C1D-EF24-4AA7-9B2C-7E924C0CB2FE}"/>
              </a:ext>
            </a:extLst>
          </p:cNvPr>
          <p:cNvSpPr/>
          <p:nvPr/>
        </p:nvSpPr>
        <p:spPr>
          <a:xfrm>
            <a:off x="8134350" y="1638300"/>
            <a:ext cx="3295650" cy="2133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EA2F73B-08F9-454C-AC81-F20C281A0E86}"/>
              </a:ext>
            </a:extLst>
          </p:cNvPr>
          <p:cNvSpPr/>
          <p:nvPr/>
        </p:nvSpPr>
        <p:spPr>
          <a:xfrm>
            <a:off x="762000" y="3924300"/>
            <a:ext cx="3295650" cy="2133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900C802-5A1A-45FE-BC5E-DD2F509BE20A}"/>
              </a:ext>
            </a:extLst>
          </p:cNvPr>
          <p:cNvSpPr/>
          <p:nvPr/>
        </p:nvSpPr>
        <p:spPr>
          <a:xfrm>
            <a:off x="4448175" y="3924300"/>
            <a:ext cx="3295650" cy="2133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6F0372B-4AC5-4F0E-B403-F7AEE5CDA6CC}"/>
              </a:ext>
            </a:extLst>
          </p:cNvPr>
          <p:cNvSpPr/>
          <p:nvPr/>
        </p:nvSpPr>
        <p:spPr>
          <a:xfrm>
            <a:off x="8134350" y="3924300"/>
            <a:ext cx="3295650" cy="2133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7B8F715-1310-450E-BB74-E965F01DA15F}"/>
              </a:ext>
            </a:extLst>
          </p:cNvPr>
          <p:cNvSpPr txBox="1"/>
          <p:nvPr/>
        </p:nvSpPr>
        <p:spPr>
          <a:xfrm>
            <a:off x="990600" y="1847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25FFD8E-B0E7-4B7B-95D9-52249CB673C9}"/>
              </a:ext>
            </a:extLst>
          </p:cNvPr>
          <p:cNvSpPr txBox="1"/>
          <p:nvPr/>
        </p:nvSpPr>
        <p:spPr>
          <a:xfrm>
            <a:off x="990600" y="209550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Fail-closed money path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ADA2AF-5561-4C7C-8AAE-2954D4854F45}"/>
              </a:ext>
            </a:extLst>
          </p:cNvPr>
          <p:cNvSpPr txBox="1"/>
          <p:nvPr/>
        </p:nvSpPr>
        <p:spPr>
          <a:xfrm>
            <a:off x="990600" y="2457450"/>
            <a:ext cx="2838450" cy="1381125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Three independent keys to arm. Notional cap enforced inside the order bridge, not the UI. Stage then acknowledge, 15-minute TTL, kill switch and price band on top.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94EA9B2-1EA7-4CAB-B048-858B971FDD72}"/>
              </a:ext>
            </a:extLst>
          </p:cNvPr>
          <p:cNvSpPr txBox="1"/>
          <p:nvPr/>
        </p:nvSpPr>
        <p:spPr>
          <a:xfrm>
            <a:off x="4676775" y="1847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7001A19-B07E-4E18-BCCA-ADE647D81A08}"/>
              </a:ext>
            </a:extLst>
          </p:cNvPr>
          <p:cNvSpPr txBox="1"/>
          <p:nvPr/>
        </p:nvSpPr>
        <p:spPr>
          <a:xfrm>
            <a:off x="4676775" y="209550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Council integrity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20BC0F0-D434-46C1-8EDB-E37BF760EB32}"/>
              </a:ext>
            </a:extLst>
          </p:cNvPr>
          <p:cNvSpPr txBox="1"/>
          <p:nvPr/>
        </p:nvSpPr>
        <p:spPr>
          <a:xfrm>
            <a:off x="4676775" y="2457450"/>
            <a:ext cx="283845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A named seat is answered by that seat
only: a dead model shrinks the council
instead of doubling an opinion in the
median, and retired slugs get reported.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7A1C6F-1944-4D9A-817A-44E62610BE65}"/>
              </a:ext>
            </a:extLst>
          </p:cNvPr>
          <p:cNvSpPr txBox="1"/>
          <p:nvPr/>
        </p:nvSpPr>
        <p:spPr>
          <a:xfrm>
            <a:off x="8362950" y="1847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6D12F2D-3C96-4F55-90B0-7359C1048DB2}"/>
              </a:ext>
            </a:extLst>
          </p:cNvPr>
          <p:cNvSpPr txBox="1"/>
          <p:nvPr/>
        </p:nvSpPr>
        <p:spPr>
          <a:xfrm>
            <a:off x="8362950" y="209550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Attribution, both axes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85CB5EC-7A84-4948-8E0E-8F26A5654DAB}"/>
              </a:ext>
            </a:extLst>
          </p:cNvPr>
          <p:cNvSpPr txBox="1"/>
          <p:nvPr/>
        </p:nvSpPr>
        <p:spPr>
          <a:xfrm>
            <a:off x="8362950" y="2457450"/>
            <a:ext cx="2838450" cy="1381125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Skill is measured out-of-sample in a condition with both axes named: its own regime and the cross-asset tape. Thin evidence earns no weight.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BAB7B2E-13B6-43C6-A7AD-0562CBAFA794}"/>
              </a:ext>
            </a:extLst>
          </p:cNvPr>
          <p:cNvSpPr txBox="1"/>
          <p:nvPr/>
        </p:nvSpPr>
        <p:spPr>
          <a:xfrm>
            <a:off x="990600" y="4133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57D2DEE-BAA1-4F90-8AE8-FC703974795B}"/>
              </a:ext>
            </a:extLst>
          </p:cNvPr>
          <p:cNvSpPr txBox="1"/>
          <p:nvPr/>
        </p:nvSpPr>
        <p:spPr>
          <a:xfrm>
            <a:off x="990600" y="438150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Calibration, leashed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BF7B6EC-6C86-4DDD-AEA2-EFC23438EB80}"/>
              </a:ext>
            </a:extLst>
          </p:cNvPr>
          <p:cNvSpPr txBox="1"/>
          <p:nvPr/>
        </p:nvSpPr>
        <p:spPr>
          <a:xfrm>
            <a:off x="990600" y="4743450"/>
            <a:ext cx="283845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Per-symbol and per-model weights learned from realized outcomes, held at 1.0 until the evidence is real enough to deserve a bonus.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FBFA5C2-0208-40BA-80B4-1BCC4601BE08}"/>
              </a:ext>
            </a:extLst>
          </p:cNvPr>
          <p:cNvSpPr txBox="1"/>
          <p:nvPr/>
        </p:nvSpPr>
        <p:spPr>
          <a:xfrm>
            <a:off x="4676775" y="4133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3A3AE90-DA74-47FC-9C73-AE30ED7F77CD}"/>
              </a:ext>
            </a:extLst>
          </p:cNvPr>
          <p:cNvSpPr txBox="1"/>
          <p:nvPr/>
        </p:nvSpPr>
        <p:spPr>
          <a:xfrm>
            <a:off x="4676775" y="438150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Venue-agnostic risk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2195D8A-D879-4248-9089-0CD4B43823E7}"/>
              </a:ext>
            </a:extLst>
          </p:cNvPr>
          <p:cNvSpPr txBox="1"/>
          <p:nvPr/>
        </p:nvSpPr>
        <p:spPr>
          <a:xfrm>
            <a:off x="4676775" y="4743450"/>
            <a:ext cx="283845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The risk layer does not know which
broker is underneath it. PSX cash,
MT5 commodities and FX, PMEX futures:
swap the venue, keep the discipline.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ADABD5D-3298-4FC9-96D8-62FB3975945F}"/>
              </a:ext>
            </a:extLst>
          </p:cNvPr>
          <p:cNvSpPr txBox="1"/>
          <p:nvPr/>
        </p:nvSpPr>
        <p:spPr>
          <a:xfrm>
            <a:off x="8362950" y="4133850"/>
            <a:ext cx="28384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135A953-FBD8-48EE-8141-9355214E2B72}"/>
              </a:ext>
            </a:extLst>
          </p:cNvPr>
          <p:cNvSpPr txBox="1"/>
          <p:nvPr/>
        </p:nvSpPr>
        <p:spPr>
          <a:xfrm>
            <a:off x="8362950" y="4381500"/>
            <a:ext cx="283845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Secrets discipline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7BB165A-C887-428E-9499-738147CFFAF9}"/>
              </a:ext>
            </a:extLst>
          </p:cNvPr>
          <p:cNvSpPr txBox="1"/>
          <p:nvPr/>
        </p:nvSpPr>
        <p:spPr>
          <a:xfrm>
            <a:off x="8362950" y="4743450"/>
            <a:ext cx="283845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The broker PIN is written to git-ignored config only: never logged, journalled, returned by an endpoint or echoed in an interface. One click to forget it.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607947E-C5F5-4966-AF6E-C304017B150B}"/>
              </a:ext>
            </a:extLst>
          </p:cNvPr>
          <p:cNvSpPr txBox="1"/>
          <p:nvPr/>
        </p:nvSpPr>
        <p:spPr>
          <a:xfrm>
            <a:off x="762000" y="6324600"/>
            <a:ext cx="10668000" cy="2476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runs on a 2015-era i5 with 8 GB of RAM. Infrastructure cost is not the constraint.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AE273F9-1884-4F61-B7EF-332FECEAC3DA}"/>
              </a:ext>
            </a:extLst>
          </p:cNvPr>
          <p:cNvSpPr txBox="1"/>
          <p:nvPr/>
        </p:nvSpPr>
        <p:spPr>
          <a:xfrm>
            <a:off x="762000" y="495300"/>
            <a:ext cx="8572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Who this is for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8337DE-C773-4311-A080-57D370CA3EB9}"/>
              </a:ext>
            </a:extLst>
          </p:cNvPr>
          <p:cNvSpPr txBox="1"/>
          <p:nvPr/>
        </p:nvSpPr>
        <p:spPr>
          <a:xfrm>
            <a:off x="762000" y="1104900"/>
            <a:ext cx="8572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four kinds of buyer, and what each one actually gets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3C24A2A-8F45-4EC6-9C82-ABAA0A5D17AF}"/>
              </a:ext>
            </a:extLst>
          </p:cNvPr>
          <p:cNvSpPr/>
          <p:nvPr/>
        </p:nvSpPr>
        <p:spPr>
          <a:xfrm>
            <a:off x="762000" y="1676400"/>
            <a:ext cx="10668000" cy="8763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D37C0E9-E0EF-42DD-81CC-8DAE99515F25}"/>
              </a:ext>
            </a:extLst>
          </p:cNvPr>
          <p:cNvSpPr/>
          <p:nvPr/>
        </p:nvSpPr>
        <p:spPr>
          <a:xfrm>
            <a:off x="762000" y="2667000"/>
            <a:ext cx="10668000" cy="8763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476C08F-0FE2-44E0-B561-0F29FC22A922}"/>
              </a:ext>
            </a:extLst>
          </p:cNvPr>
          <p:cNvSpPr/>
          <p:nvPr/>
        </p:nvSpPr>
        <p:spPr>
          <a:xfrm>
            <a:off x="762000" y="3657600"/>
            <a:ext cx="10668000" cy="8763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33D95BB-3426-46E0-A8B6-DA5C19FBC326}"/>
              </a:ext>
            </a:extLst>
          </p:cNvPr>
          <p:cNvSpPr/>
          <p:nvPr/>
        </p:nvSpPr>
        <p:spPr>
          <a:xfrm>
            <a:off x="762000" y="4648200"/>
            <a:ext cx="10668000" cy="8763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F09DB4-E1DE-4565-8B31-F8756AC790D9}"/>
              </a:ext>
            </a:extLst>
          </p:cNvPr>
          <p:cNvSpPr txBox="1"/>
          <p:nvPr/>
        </p:nvSpPr>
        <p:spPr>
          <a:xfrm>
            <a:off x="1009650" y="1866900"/>
            <a:ext cx="28575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PSX brokerage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digital desk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5B51F5-4C38-4659-B519-996418C7D19E}"/>
              </a:ext>
            </a:extLst>
          </p:cNvPr>
          <p:cNvSpPr txBox="1"/>
          <p:nvPr/>
        </p:nvSpPr>
        <p:spPr>
          <a:xfrm>
            <a:off x="4191000" y="1847850"/>
            <a:ext cx="66675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Already owns the licence, the clients and the portal. An execution and risk layer that speaks their order system differentiates their retail offering instead of competing with it.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B7581FF-0E8A-47EA-BB4D-0CB11D9F4C90}"/>
              </a:ext>
            </a:extLst>
          </p:cNvPr>
          <p:cNvSpPr txBox="1"/>
          <p:nvPr/>
        </p:nvSpPr>
        <p:spPr>
          <a:xfrm>
            <a:off x="1009650" y="2857500"/>
            <a:ext cx="28575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Asset manager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mutual fund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0A2380-D0D1-40EC-B65D-4AA2F956F4FD}"/>
              </a:ext>
            </a:extLst>
          </p:cNvPr>
          <p:cNvSpPr txBox="1"/>
          <p:nvPr/>
        </p:nvSpPr>
        <p:spPr>
          <a:xfrm>
            <a:off x="4191000" y="2838450"/>
            <a:ext cx="66675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Systematic overlay research, plus an instrumented journal their own diligence team can reopen: costs, failures and the scoring rule all included.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A256A1-7E17-4DD7-869D-65FC1DCDC866}"/>
              </a:ext>
            </a:extLst>
          </p:cNvPr>
          <p:cNvSpPr txBox="1"/>
          <p:nvPr/>
        </p:nvSpPr>
        <p:spPr>
          <a:xfrm>
            <a:off x="1009650" y="3848100"/>
            <a:ext cx="28575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Exchange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market infrastructure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8477C9-B900-454A-8B39-92C15CC093FD}"/>
              </a:ext>
            </a:extLst>
          </p:cNvPr>
          <p:cNvSpPr txBox="1"/>
          <p:nvPr/>
        </p:nvSpPr>
        <p:spPr>
          <a:xfrm>
            <a:off x="4191000" y="3829050"/>
            <a:ext cx="66675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A locally built, retail-accessible systematic stack is a market-development story worth telling, and a working reference implementation for one.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AE4DEC7-C670-4214-93D5-F3316E627663}"/>
              </a:ext>
            </a:extLst>
          </p:cNvPr>
          <p:cNvSpPr txBox="1"/>
          <p:nvPr/>
        </p:nvSpPr>
        <p:spPr>
          <a:xfrm>
            <a:off x="1009650" y="4838700"/>
            <a:ext cx="28575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2FD48A"/>
                </a:solidFill>
                <a:latin typeface="Segoe UI"/>
                <a:ea typeface="Segoe UI"/>
              </a:rPr>
              <a:t>Acquirer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technology buyer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0200B36-5598-45B2-90A6-213765A7F7BE}"/>
              </a:ext>
            </a:extLst>
          </p:cNvPr>
          <p:cNvSpPr txBox="1"/>
          <p:nvPr/>
        </p:nvSpPr>
        <p:spPr>
          <a:xfrm>
            <a:off x="4191000" y="4819650"/>
            <a:ext cx="66675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The only stack of this shape built for the Pakistani market that is open enough to verify line by line, and cheap enough to own outright.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5BC919-03FB-497D-8D5B-E70A54224D21}"/>
              </a:ext>
            </a:extLst>
          </p:cNvPr>
          <p:cNvSpPr txBox="1"/>
          <p:nvPr/>
        </p:nvSpPr>
        <p:spPr>
          <a:xfrm>
            <a:off x="762000" y="5829300"/>
            <a:ext cx="106680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450" b="1">
                <a:solidFill>
                  <a:srgbClr val="F0B429"/>
                </a:solidFill>
                <a:latin typeface="Segoe UI"/>
                <a:ea typeface="Segoe UI"/>
              </a:rPr>
              <a:t>Every one of these needs a licensed wrapper to touch client money.</a:t>
            </a:r>
          </a:p>
          <a:p>
            <a:pPr algn="ctr"/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KAIROS is the engine. We are not offering to be the wrapper.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6F3D579-0324-45D4-BA59-4D91F822E3C1}"/>
              </a:ext>
            </a:extLst>
          </p:cNvPr>
          <p:cNvSpPr txBox="1"/>
          <p:nvPr/>
        </p:nvSpPr>
        <p:spPr>
          <a:xfrm>
            <a:off x="762000" y="495300"/>
            <a:ext cx="8572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What we are open to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194C96-3AFB-40B5-A720-C7B1E2D68632}"/>
              </a:ext>
            </a:extLst>
          </p:cNvPr>
          <p:cNvSpPr txBox="1"/>
          <p:nvPr/>
        </p:nvSpPr>
        <p:spPr>
          <a:xfrm>
            <a:off x="762000" y="1104900"/>
            <a:ext cx="10477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four shapes of deal, all of them legal for an unlicensed builder to discuss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ADB0564-E067-473D-ADC1-E3D57567F241}"/>
              </a:ext>
            </a:extLst>
          </p:cNvPr>
          <p:cNvSpPr/>
          <p:nvPr/>
        </p:nvSpPr>
        <p:spPr>
          <a:xfrm>
            <a:off x="762000" y="1676400"/>
            <a:ext cx="5191125" cy="1619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FC2FC27-E780-4A90-B211-EF6FB8EE29D1}"/>
              </a:ext>
            </a:extLst>
          </p:cNvPr>
          <p:cNvSpPr/>
          <p:nvPr/>
        </p:nvSpPr>
        <p:spPr>
          <a:xfrm>
            <a:off x="6238875" y="1676400"/>
            <a:ext cx="5191125" cy="1619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AD49959-F902-4DF0-98A0-79383C62DA2A}"/>
              </a:ext>
            </a:extLst>
          </p:cNvPr>
          <p:cNvSpPr/>
          <p:nvPr/>
        </p:nvSpPr>
        <p:spPr>
          <a:xfrm>
            <a:off x="762000" y="3429000"/>
            <a:ext cx="5191125" cy="1619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63D32F2-4CFA-4FB2-BE5A-59D7F5D59A5B}"/>
              </a:ext>
            </a:extLst>
          </p:cNvPr>
          <p:cNvSpPr/>
          <p:nvPr/>
        </p:nvSpPr>
        <p:spPr>
          <a:xfrm>
            <a:off x="6238875" y="3429000"/>
            <a:ext cx="5191125" cy="1619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F7100E-C1F5-459E-BB4F-D07A1FA6D88B}"/>
              </a:ext>
            </a:extLst>
          </p:cNvPr>
          <p:cNvSpPr txBox="1"/>
          <p:nvPr/>
        </p:nvSpPr>
        <p:spPr>
          <a:xfrm>
            <a:off x="1066800" y="1866900"/>
            <a:ext cx="4581525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01 · NOW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57C1307-7F7A-4169-BEAB-F02559792D10}"/>
              </a:ext>
            </a:extLst>
          </p:cNvPr>
          <p:cNvSpPr txBox="1"/>
          <p:nvPr/>
        </p:nvSpPr>
        <p:spPr>
          <a:xfrm>
            <a:off x="1066800" y="2114550"/>
            <a:ext cx="4581525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FD48A"/>
                </a:solidFill>
                <a:latin typeface="Segoe UI"/>
                <a:ea typeface="Segoe UI"/>
              </a:rPr>
              <a:t>Acquire or license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0AB4CB7-7A9D-4BE3-84D7-7C89CFF4CCA9}"/>
              </a:ext>
            </a:extLst>
          </p:cNvPr>
          <p:cNvSpPr txBox="1"/>
          <p:nvPr/>
        </p:nvSpPr>
        <p:spPr>
          <a:xfrm>
            <a:off x="1066800" y="2438400"/>
            <a:ext cx="4581525" cy="85725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The engine, the risk layer and the broker bridges as a technology asset for a broker, an exchange or an asset manager's digital desk.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DDCEB5F-95CA-46EB-A7B7-B732C1438106}"/>
              </a:ext>
            </a:extLst>
          </p:cNvPr>
          <p:cNvSpPr txBox="1"/>
          <p:nvPr/>
        </p:nvSpPr>
        <p:spPr>
          <a:xfrm>
            <a:off x="6543675" y="1866900"/>
            <a:ext cx="4581525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02 · NOW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0509C2A-D418-4DEA-B487-F05205C9BDA7}"/>
              </a:ext>
            </a:extLst>
          </p:cNvPr>
          <p:cNvSpPr txBox="1"/>
          <p:nvPr/>
        </p:nvSpPr>
        <p:spPr>
          <a:xfrm>
            <a:off x="6543675" y="2114550"/>
            <a:ext cx="4581525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FD48A"/>
                </a:solidFill>
                <a:latin typeface="Segoe UI"/>
                <a:ea typeface="Segoe UI"/>
              </a:rPr>
              <a:t>Strategic partnership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6D97937-4AB0-485E-A94B-4674E493365A}"/>
              </a:ext>
            </a:extLst>
          </p:cNvPr>
          <p:cNvSpPr txBox="1"/>
          <p:nvPr/>
        </p:nvSpPr>
        <p:spPr>
          <a:xfrm>
            <a:off x="6543675" y="2438400"/>
            <a:ext cx="4581525" cy="85725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A licensed firm holds the regulated wrapper and the client relationship; KAIROS supplies signal and execution. Compliance review first.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737557F-138B-4301-AA78-17C942CFCF1E}"/>
              </a:ext>
            </a:extLst>
          </p:cNvPr>
          <p:cNvSpPr txBox="1"/>
          <p:nvPr/>
        </p:nvSpPr>
        <p:spPr>
          <a:xfrm>
            <a:off x="1066800" y="3619500"/>
            <a:ext cx="4581525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03 · NEXT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EC5B88C-750F-4530-BA4A-BBBA17BC745F}"/>
              </a:ext>
            </a:extLst>
          </p:cNvPr>
          <p:cNvSpPr txBox="1"/>
          <p:nvPr/>
        </p:nvSpPr>
        <p:spPr>
          <a:xfrm>
            <a:off x="1066800" y="3867150"/>
            <a:ext cx="4581525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FD48A"/>
                </a:solidFill>
                <a:latin typeface="Segoe UI"/>
                <a:ea typeface="Segoe UI"/>
              </a:rPr>
              <a:t>Bounded pilot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BA6C510-4447-4D4F-B0AF-F0C57909A684}"/>
              </a:ext>
            </a:extLst>
          </p:cNvPr>
          <p:cNvSpPr txBox="1"/>
          <p:nvPr/>
        </p:nvSpPr>
        <p:spPr>
          <a:xfrm>
            <a:off x="1066800" y="4191000"/>
            <a:ext cx="4581525" cy="85725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One institution, one instrument class, the kill switch in their hands. The only deliverable is a real forward record, published whichever way it lands.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F9033EF-F3CF-4CD9-BF99-308EC37B2D47}"/>
              </a:ext>
            </a:extLst>
          </p:cNvPr>
          <p:cNvSpPr txBox="1"/>
          <p:nvPr/>
        </p:nvSpPr>
        <p:spPr>
          <a:xfrm>
            <a:off x="6543675" y="3619500"/>
            <a:ext cx="4581525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04 · ALWAYS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EF79EC8-1537-4606-9877-F8A37196AA28}"/>
              </a:ext>
            </a:extLst>
          </p:cNvPr>
          <p:cNvSpPr txBox="1"/>
          <p:nvPr/>
        </p:nvSpPr>
        <p:spPr>
          <a:xfrm>
            <a:off x="6543675" y="3867150"/>
            <a:ext cx="4581525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FD48A"/>
                </a:solidFill>
                <a:latin typeface="Segoe UI"/>
                <a:ea typeface="Segoe UI"/>
              </a:rPr>
              <a:t>The operator, in-house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4C73AB5-9C71-41C8-A4EE-69EAD9BD0ABE}"/>
              </a:ext>
            </a:extLst>
          </p:cNvPr>
          <p:cNvSpPr txBox="1"/>
          <p:nvPr/>
        </p:nvSpPr>
        <p:spPr>
          <a:xfrm>
            <a:off x="6543675" y="4191000"/>
            <a:ext cx="4581525" cy="857250"/>
          </a:xfrm>
        </p:spPr>
        <p:txBody>
          <a:bodyPr wrap="square" rtlCol="0" lIns="0" tIns="0" rIns="0" bIns="0" anchor="t"/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The person who built this will build it inside a firm that can hold the licence. Hiring is a legitimate outcome and we say so out loud.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C371196C-D944-4787-B53A-DC15EE4EE3F7}"/>
              </a:ext>
            </a:extLst>
          </p:cNvPr>
          <p:cNvSpPr/>
          <p:nvPr/>
        </p:nvSpPr>
        <p:spPr>
          <a:xfrm>
            <a:off x="762000" y="5295900"/>
            <a:ext cx="10668000" cy="12573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3A322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98C7DFA-3B60-4137-9266-297F011CEBF0}"/>
              </a:ext>
            </a:extLst>
          </p:cNvPr>
          <p:cNvSpPr txBox="1"/>
          <p:nvPr/>
        </p:nvSpPr>
        <p:spPr>
          <a:xfrm>
            <a:off x="1066800" y="5524500"/>
            <a:ext cx="99060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50" b="1">
                <a:solidFill>
                  <a:srgbClr val="F0B429"/>
                </a:solidFill>
                <a:latin typeface="Segoe UI"/>
                <a:ea typeface="Segoe UI"/>
              </a:rPr>
              <a:t>Not on the table: pooled capital, managed accounts, any promise of return.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Those need a licensed vehicle and counsel, not a codebase. A builder of a trading system who asks retail investors for pooled money is describing a regulated activity he cannot perform — and asking for it would trade the only asset that survives diligence.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526410E-96C5-4A0E-9157-BFF4EE7D576B}"/>
              </a:ext>
            </a:extLst>
          </p:cNvPr>
          <p:cNvSpPr txBox="1"/>
          <p:nvPr/>
        </p:nvSpPr>
        <p:spPr>
          <a:xfrm>
            <a:off x="762000" y="495300"/>
            <a:ext cx="8572500" cy="544068"/>
          </a:xfrm>
        </p:spPr>
        <p:txBody>
          <a:bodyPr wrap="square" rtlCol="0" lIns="0" tIns="0" rIns="0" bIns="0" anchor="t"/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E6E9EF"/>
                </a:solidFill>
                <a:latin typeface="Segoe UI"/>
                <a:ea typeface="Segoe UI"/>
              </a:rPr>
              <a:t>Evidence-first 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7231BC5-78F0-4568-BCA1-F858AE25174E}"/>
              </a:ext>
            </a:extLst>
          </p:cNvPr>
          <p:cNvSpPr txBox="1"/>
          <p:nvPr/>
        </p:nvSpPr>
        <p:spPr>
          <a:xfrm>
            <a:off x="762000" y="1104900"/>
            <a:ext cx="10477500" cy="266700"/>
          </a:xfrm>
        </p:spPr>
        <p:txBody>
          <a:bodyPr wrap="square" rtlCol="0" lIns="0" tIns="0" rIns="0" bIns="0" anchor="t"/>
          <a:lstStyle/>
          <a:p>
            <a:r>
              <a:rPr sz="1400" i="1">
                <a:solidFill>
                  <a:srgbClr val="8B94A6"/>
                </a:solidFill>
                <a:latin typeface="Segoe UI"/>
                <a:ea typeface="Segoe UI"/>
              </a:rPr>
              <a:t>four steps, each with the thing that has to be true before the next one starts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7C2853F-B923-4333-ACBD-66C61F667B81}"/>
              </a:ext>
            </a:extLst>
          </p:cNvPr>
          <p:cNvSpPr/>
          <p:nvPr/>
        </p:nvSpPr>
        <p:spPr>
          <a:xfrm>
            <a:off x="1143000" y="2857500"/>
            <a:ext cx="9906000" cy="19050"/>
          </a:xfrm>
          <a:prstGeom prst="rect">
            <a:avLst/>
          </a:prstGeom>
          <a:solidFill>
            <a:srgbClr val="232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FAF4B85-CE07-4437-B5BC-136DC1BFE4C7}"/>
              </a:ext>
            </a:extLst>
          </p:cNvPr>
          <p:cNvSpPr/>
          <p:nvPr/>
        </p:nvSpPr>
        <p:spPr>
          <a:xfrm>
            <a:off x="1581150" y="2752725"/>
            <a:ext cx="228600" cy="228600"/>
          </a:xfrm>
          <a:prstGeom prst="ellipse">
            <a:avLst/>
          </a:prstGeom>
          <a:solidFill>
            <a:srgbClr val="2FD48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234B744-A2FF-4703-BDF1-48C097785F11}"/>
              </a:ext>
            </a:extLst>
          </p:cNvPr>
          <p:cNvSpPr/>
          <p:nvPr/>
        </p:nvSpPr>
        <p:spPr>
          <a:xfrm>
            <a:off x="4438650" y="2752725"/>
            <a:ext cx="228600" cy="228600"/>
          </a:xfrm>
          <a:prstGeom prst="ellipse">
            <a:avLst/>
          </a:prstGeom>
          <a:solidFill>
            <a:srgbClr val="0A0D14"/>
          </a:solidFill>
          <a:ln w="25400">
            <a:solidFill>
              <a:srgbClr val="2FD4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5D1C850-B6B1-4BF1-9CCE-58F5EA58A1EC}"/>
              </a:ext>
            </a:extLst>
          </p:cNvPr>
          <p:cNvSpPr/>
          <p:nvPr/>
        </p:nvSpPr>
        <p:spPr>
          <a:xfrm>
            <a:off x="7296150" y="2752725"/>
            <a:ext cx="228600" cy="228600"/>
          </a:xfrm>
          <a:prstGeom prst="ellipse">
            <a:avLst/>
          </a:prstGeom>
          <a:solidFill>
            <a:srgbClr val="0A0D14"/>
          </a:solidFill>
          <a:ln w="25400">
            <a:solidFill>
              <a:srgbClr val="2FD4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9C77855-9682-4AF9-867A-C8053898CA52}"/>
              </a:ext>
            </a:extLst>
          </p:cNvPr>
          <p:cNvSpPr/>
          <p:nvPr/>
        </p:nvSpPr>
        <p:spPr>
          <a:xfrm>
            <a:off x="10077450" y="2752725"/>
            <a:ext cx="228600" cy="228600"/>
          </a:xfrm>
          <a:prstGeom prst="ellipse">
            <a:avLst/>
          </a:prstGeom>
          <a:solidFill>
            <a:srgbClr val="0A0D14"/>
          </a:solidFill>
          <a:ln w="25400">
            <a:solidFill>
              <a:srgbClr val="5A647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47649E-8131-442B-A9A3-0EAE86FD8CAC}"/>
              </a:ext>
            </a:extLst>
          </p:cNvPr>
          <p:cNvSpPr txBox="1"/>
          <p:nvPr/>
        </p:nvSpPr>
        <p:spPr>
          <a:xfrm>
            <a:off x="619125" y="2019300"/>
            <a:ext cx="2381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STEP 01 · RUNNING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883C465-24A4-4EFD-9413-F4266832DF01}"/>
              </a:ext>
            </a:extLst>
          </p:cNvPr>
          <p:cNvSpPr txBox="1"/>
          <p:nvPr/>
        </p:nvSpPr>
        <p:spPr>
          <a:xfrm>
            <a:off x="619125" y="2286000"/>
            <a:ext cx="238125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Grow the record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33369BF-5B5A-47CE-B94F-473B2EDEE91B}"/>
              </a:ext>
            </a:extLst>
          </p:cNvPr>
          <p:cNvSpPr txBox="1"/>
          <p:nvPr/>
        </p:nvSpPr>
        <p:spPr>
          <a:xfrm>
            <a:off x="619125" y="3143250"/>
            <a:ext cx="238125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100 or more matured directional calls, published whichever way the hit rate lands.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039CBBA-444B-431C-B732-27E606256EE8}"/>
              </a:ext>
            </a:extLst>
          </p:cNvPr>
          <p:cNvSpPr txBox="1"/>
          <p:nvPr/>
        </p:nvSpPr>
        <p:spPr>
          <a:xfrm>
            <a:off x="3476625" y="2019300"/>
            <a:ext cx="2381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STEP 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932E487-5EDF-4910-AD47-1AB69E253DD1}"/>
              </a:ext>
            </a:extLst>
          </p:cNvPr>
          <p:cNvSpPr txBox="1"/>
          <p:nvPr/>
        </p:nvSpPr>
        <p:spPr>
          <a:xfrm>
            <a:off x="3476625" y="2286000"/>
            <a:ext cx="238125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Beat the fee wall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3218931-8DE2-46A1-89CD-431D3099C1FA}"/>
              </a:ext>
            </a:extLst>
          </p:cNvPr>
          <p:cNvSpPr txBox="1"/>
          <p:nvPr/>
        </p:nvSpPr>
        <p:spPr>
          <a:xfrm>
            <a:off x="3476625" y="3143250"/>
            <a:ext cx="238125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A PSX equity book that survives costs out-of-sample, or PSX equities leave the strategy set.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8B024B0-3007-42EE-BE6A-1F75B6984865}"/>
              </a:ext>
            </a:extLst>
          </p:cNvPr>
          <p:cNvSpPr txBox="1"/>
          <p:nvPr/>
        </p:nvSpPr>
        <p:spPr>
          <a:xfrm>
            <a:off x="6334125" y="2019300"/>
            <a:ext cx="2381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STEP 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2849C5F-64CD-48DD-AD81-DA2DDFD2F95A}"/>
              </a:ext>
            </a:extLst>
          </p:cNvPr>
          <p:cNvSpPr txBox="1"/>
          <p:nvPr/>
        </p:nvSpPr>
        <p:spPr>
          <a:xfrm>
            <a:off x="6334125" y="2286000"/>
            <a:ext cx="238125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Bounded pilot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CB0E847-3837-4A7D-B95A-B827E085FBFA}"/>
              </a:ext>
            </a:extLst>
          </p:cNvPr>
          <p:cNvSpPr txBox="1"/>
          <p:nvPr/>
        </p:nvSpPr>
        <p:spPr>
          <a:xfrm>
            <a:off x="6334125" y="3143250"/>
            <a:ext cx="238125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One named institution, one instrument class, real but capped mandate, kill switch in their hands.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9A99EF9-855D-4C79-8052-A6AFBCC283D9}"/>
              </a:ext>
            </a:extLst>
          </p:cNvPr>
          <p:cNvSpPr txBox="1"/>
          <p:nvPr/>
        </p:nvSpPr>
        <p:spPr>
          <a:xfrm>
            <a:off x="9191625" y="2019300"/>
            <a:ext cx="2381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STEP 04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C749BF8-4E6B-4D59-B352-23458D823985}"/>
              </a:ext>
            </a:extLst>
          </p:cNvPr>
          <p:cNvSpPr txBox="1"/>
          <p:nvPr/>
        </p:nvSpPr>
        <p:spPr>
          <a:xfrm>
            <a:off x="9191625" y="2286000"/>
            <a:ext cx="238125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900" b="1">
                <a:solidFill>
                  <a:srgbClr val="E6E9EF"/>
                </a:solidFill>
                <a:latin typeface="Segoe UI"/>
                <a:ea typeface="Segoe UI"/>
              </a:rPr>
              <a:t>Licensed structure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D3A920D-0E55-4B69-B000-B69BAF00DB0F}"/>
              </a:ext>
            </a:extLst>
          </p:cNvPr>
          <p:cNvSpPr txBox="1"/>
          <p:nvPr/>
        </p:nvSpPr>
        <p:spPr>
          <a:xfrm>
            <a:off x="9191625" y="3143250"/>
            <a:ext cx="238125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250">
                <a:solidFill>
                  <a:srgbClr val="8B94A6"/>
                </a:solidFill>
                <a:latin typeface="Segoe UI"/>
                <a:ea typeface="Segoe UI"/>
              </a:rPr>
              <a:t>Only with counsel and a regulator-appropriate wrapper. No shortcuts and no grey structures.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29A6F35C-5A77-44E8-B62D-999A472EA29A}"/>
              </a:ext>
            </a:extLst>
          </p:cNvPr>
          <p:cNvSpPr/>
          <p:nvPr/>
        </p:nvSpPr>
        <p:spPr>
          <a:xfrm>
            <a:off x="762000" y="4762500"/>
            <a:ext cx="10668000" cy="123825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62D59E8-7512-44EF-BFC5-094414872360}"/>
              </a:ext>
            </a:extLst>
          </p:cNvPr>
          <p:cNvSpPr txBox="1"/>
          <p:nvPr/>
        </p:nvSpPr>
        <p:spPr>
          <a:xfrm>
            <a:off x="1066800" y="4991100"/>
            <a:ext cx="99060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50" b="1">
                <a:solidFill>
                  <a:srgbClr val="2FD48A"/>
                </a:solidFill>
                <a:latin typeface="Segoe UI"/>
                <a:ea typeface="Segoe UI"/>
              </a:rPr>
              <a:t>Step 01 is already running, and it is the gate everything else waits on.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8B94A6"/>
                </a:solidFill>
                <a:latin typeface="Segoe UI"/>
                <a:ea typeface="Segoe UI"/>
              </a:rPr>
              <a:t>The journal grows on its own every ten minutes: every prediction is in the dated ledger; 404 horizons matured, zero directional calls resolved so far. Nobody has to trust a slide to check this number; it prints itself, and it will print the losses too.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189D420-87CE-4C4A-81C4-98C684005023}"/>
              </a:ext>
            </a:extLst>
          </p:cNvPr>
          <p:cNvSpPr txBox="1"/>
          <p:nvPr/>
        </p:nvSpPr>
        <p:spPr>
          <a:xfrm>
            <a:off x="762000" y="6248400"/>
            <a:ext cx="10668000" cy="2476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5A6478"/>
                </a:solidFill>
                <a:latin typeface="Consolas"/>
                <a:ea typeface="Consolas"/>
              </a:rPr>
              <a:t>no step of this roadmap contains a funding round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5825A43-9945-4B26-ABD3-63DF3C104583}"/>
              </a:ext>
            </a:extLst>
          </p:cNvPr>
          <p:cNvSpPr txBox="1"/>
          <p:nvPr/>
        </p:nvSpPr>
        <p:spPr>
          <a:xfrm>
            <a:off x="762000" y="914400"/>
            <a:ext cx="10668000" cy="704088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E6E9EF"/>
                </a:solidFill>
                <a:latin typeface="Segoe UI"/>
                <a:ea typeface="Segoe UI"/>
              </a:rPr>
              <a:t>Verify, don't trust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0037AA-F5A9-4C34-96B0-5C059CA6B028}"/>
              </a:ext>
            </a:extLst>
          </p:cNvPr>
          <p:cNvSpPr txBox="1"/>
          <p:nvPr/>
        </p:nvSpPr>
        <p:spPr>
          <a:xfrm>
            <a:off x="762000" y="1619250"/>
            <a:ext cx="10668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>
                <a:solidFill>
                  <a:srgbClr val="8B94A6"/>
                </a:solidFill>
                <a:latin typeface="Segoe UI"/>
                <a:ea typeface="Segoe UI"/>
              </a:rPr>
              <a:t>every figure in this deck is regenerated from the journals by one command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CA897A3-C10D-49BF-8A2C-49CEE9FF9A10}"/>
              </a:ext>
            </a:extLst>
          </p:cNvPr>
          <p:cNvSpPr/>
          <p:nvPr/>
        </p:nvSpPr>
        <p:spPr>
          <a:xfrm>
            <a:off x="2286000" y="2152650"/>
            <a:ext cx="7620000" cy="1676400"/>
          </a:xfrm>
          <a:prstGeom prst="roundRect">
            <a:avLst/>
          </a:prstGeom>
          <a:solidFill>
            <a:srgbClr val="0B0E14"/>
          </a:solidFill>
          <a:ln w="12700">
            <a:solidFill>
              <a:srgbClr val="232A3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81F456-9EF5-401D-B7A9-24AE1104BD19}"/>
              </a:ext>
            </a:extLst>
          </p:cNvPr>
          <p:cNvSpPr txBox="1"/>
          <p:nvPr/>
        </p:nvSpPr>
        <p:spPr>
          <a:xfrm>
            <a:off x="2571750" y="2362200"/>
            <a:ext cx="7048500" cy="1333500"/>
          </a:xfrm>
        </p:spPr>
        <p:txBody>
          <a:bodyPr wrap="square" rtlCol="0" lIns="0" tIns="0" rIns="0" bIns="0" anchor="t"/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2FD48A"/>
                </a:solidFill>
                <a:latin typeface="Consolas"/>
                <a:ea typeface="Consolas"/>
              </a:rPr>
              <a:t>$ </a:t>
            </a:r>
            <a:r>
              <a:rPr sz="1400">
                <a:solidFill>
                  <a:srgbClr val="C8D3E6"/>
                </a:solidFill>
                <a:latin typeface="Consolas"/>
                <a:ea typeface="Consolas"/>
              </a:rPr>
              <a:t>git clone https://github.com/zhaider5142009-oss/kairos</a:t>
            </a: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2FD48A"/>
                </a:solidFill>
                <a:latin typeface="Consolas"/>
                <a:ea typeface="Consolas"/>
              </a:rPr>
              <a:t>$ </a:t>
            </a:r>
            <a:r>
              <a:rPr sz="1400">
                <a:solidFill>
                  <a:srgbClr val="C8D3E6"/>
                </a:solidFill>
                <a:latin typeface="Consolas"/>
                <a:ea typeface="Consolas"/>
              </a:rPr>
              <a:t>python tools/make_track_record.py</a:t>
            </a: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2FD48A"/>
                </a:solidFill>
                <a:latin typeface="Consolas"/>
                <a:ea typeface="Consolas"/>
              </a:rPr>
              <a:t>$ </a:t>
            </a:r>
            <a:r>
              <a:rPr sz="1400">
                <a:solidFill>
                  <a:srgbClr val="C8D3E6"/>
                </a:solidFill>
                <a:latin typeface="Consolas"/>
                <a:ea typeface="Consolas"/>
              </a:rPr>
              <a:t>python -m pytest tests -q        # 857 tests</a:t>
            </a: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2FD48A"/>
                </a:solidFill>
                <a:latin typeface="Consolas"/>
                <a:ea typeface="Consolas"/>
              </a:rPr>
              <a:t>$ </a:t>
            </a:r>
            <a:r>
              <a:rPr sz="1400">
                <a:solidFill>
                  <a:srgbClr val="C8D3E6"/>
                </a:solidFill>
                <a:latin typeface="Consolas"/>
                <a:ea typeface="Consolas"/>
              </a:rPr>
              <a:t>python -m kairos.cli feedback    # realized record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0D852C4-05BB-4EC5-9E35-CB2AC37376C7}"/>
              </a:ext>
            </a:extLst>
          </p:cNvPr>
          <p:cNvSpPr txBox="1"/>
          <p:nvPr/>
        </p:nvSpPr>
        <p:spPr>
          <a:xfrm>
            <a:off x="762000" y="4095750"/>
            <a:ext cx="10668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0B429"/>
                </a:solidFill>
                <a:latin typeface="Segoe UI"/>
                <a:ea typeface="Segoe UI"/>
              </a:rPr>
              <a:t>We are asking for a 20-minute technical review, not a cheque.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8234738-2090-479C-AB89-FADA92C46BD0}"/>
              </a:ext>
            </a:extLst>
          </p:cNvPr>
          <p:cNvSpPr txBox="1"/>
          <p:nvPr/>
        </p:nvSpPr>
        <p:spPr>
          <a:xfrm>
            <a:off x="762000" y="4667250"/>
            <a:ext cx="10668000" cy="807720"/>
          </a:xfrm>
        </p:spPr>
        <p:txBody>
          <a:bodyPr wrap="square" rtlCol="0" lIns="0" tIns="0" rIns="0" bIns="0" anchor="t"/>
          <a:lstStyle/>
          <a:p>
            <a:pPr algn="ctr"/>
            <a:r>
              <a:rPr sz="1600">
                <a:solidFill>
                  <a:srgbClr val="E6E9EF"/>
                </a:solidFill>
                <a:latin typeface="Consolas"/>
                <a:ea typeface="Consolas"/>
              </a:rPr>
              <a:t>z.haider5142009@gmail.com</a:t>
            </a:r>
          </a:p>
          <a:p>
            <a:pPr algn="ctr">
              <a:spcAft>
                <a:spcPts val="600"/>
              </a:spcAft>
            </a:pPr>
            <a:r>
              <a:rPr/>
              <a:t/>
            </a:r>
          </a:p>
          <a:p>
            <a:pPr algn="ctr"/>
            <a:r>
              <a:rPr sz="1400">
                <a:solidFill>
                  <a:srgbClr val="8B94A6"/>
                </a:solidFill>
                <a:latin typeface="Consolas"/>
                <a:ea typeface="Consolas"/>
              </a:rPr>
              <a:t>github.com/zhaider5142009-oss/kairos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7F1330E-7312-440F-BF17-F564DA5031B5}"/>
              </a:ext>
            </a:extLst>
          </p:cNvPr>
          <p:cNvSpPr/>
          <p:nvPr/>
        </p:nvSpPr>
        <p:spPr>
          <a:xfrm>
            <a:off x="762000" y="5657850"/>
            <a:ext cx="10668000" cy="9525"/>
          </a:xfrm>
          <a:prstGeom prst="rect">
            <a:avLst/>
          </a:prstGeom>
          <a:solidFill>
            <a:srgbClr val="232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033538D-A66E-406E-9488-04886F0CE8F7}"/>
              </a:ext>
            </a:extLst>
          </p:cNvPr>
          <p:cNvSpPr txBox="1"/>
          <p:nvPr/>
        </p:nvSpPr>
        <p:spPr>
          <a:xfrm>
            <a:off x="1143000" y="5829300"/>
            <a:ext cx="9906000" cy="857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50">
                <a:solidFill>
                  <a:srgbClr val="5A6478"/>
                </a:solidFill>
                <a:latin typeface="Segoe UI"/>
                <a:ea typeface="Segoe UI"/>
              </a:rPr>
              <a:t>KAIROS is research and trading infrastructure built by a single operator. It is not a fund, not a licensed investment adviser and not an offer of securities. Nothing in this deck is investment advice or a forecast of future returns. Backtests are not performance; there is no performance record yet. Trading involves the risk of loss, including loss of all capital.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