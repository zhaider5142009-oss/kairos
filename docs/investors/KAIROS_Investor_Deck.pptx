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v2.5.0 · 2026-10-20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762125"/>
            <a:ext cx="190500" cy="23336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90800"/>
            <a:ext cx="190500" cy="15049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781300"/>
            <a:ext cx="190500" cy="13144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076575"/>
            <a:ext cx="190500" cy="1019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609975"/>
            <a:ext cx="190500" cy="4857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743325"/>
            <a:ext cx="190500" cy="3524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3876675"/>
            <a:ext cx="190500" cy="2190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67175"/>
            <a:ext cx="190500" cy="28575"/>
          </a:xfrm>
          <a:prstGeom prst="rect">
            <a:avLst/>
          </a:prstGeom>
          <a:solidFill>
            <a:srgbClr val="5A647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85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81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476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2476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857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429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8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100 strategies per instrument,</a:t>
            </a:r>
            <a:br/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WTI  WHEAT  HBL  BRENT  NATGAS | KSE100  MCB  EURUSD  BTC  COPPER  LUCK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10,584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34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 instrument, chosen out-of-sample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87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8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100 strategies per instrument,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2000250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1990725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2000250" y="1819275"/>
            <a:ext cx="2971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5067300" y="180975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+44.5%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2000250" y="2257425"/>
            <a:ext cx="1914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4010025" y="224790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+28.7%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2000250" y="2695575"/>
            <a:ext cx="16764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3771900" y="268605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+25.1%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2000250" y="3133725"/>
            <a:ext cx="1304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3400425" y="312420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+19.5%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2000250" y="3571875"/>
            <a:ext cx="619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2714625" y="356235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+9.3%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000250" y="4010025"/>
            <a:ext cx="4572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2552700" y="400050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+6.8%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000250" y="4448175"/>
            <a:ext cx="2762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371725" y="443865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+4.2%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KSE100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000250" y="4886325"/>
            <a:ext cx="28575" cy="209550"/>
          </a:xfrm>
          <a:prstGeom prst="rect">
            <a:avLst/>
          </a:prstGeom>
          <a:solidFill>
            <a:srgbClr val="5A647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2124075" y="487680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8B94A6"/>
                </a:solidFill>
                <a:latin typeface="Consolas"/>
                <a:ea typeface="Consolas"/>
              </a:rPr>
              <a:t>+0.0%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249422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MCB     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-0.2%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EURUSD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-0.6%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BTC     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-0.8%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COPPER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-4.7%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LUCK    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-9.2%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OGDC    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-14.1%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300">
                <a:solidFill>
                  <a:srgbClr val="E6E9EF"/>
                </a:solidFill>
                <a:latin typeface="Segoe UI"/>
                <a:ea typeface="Segoe UI"/>
              </a:rPr>
              <a:t>Sharpe 1.68 WTI · 1.61 GOLD · 1.46 SILVER</a:t>
            </a:r>
          </a:p>
          <a:p>
            <a:pPr>
              <a:lnSpc>
                <a:spcPct val="145000"/>
              </a:lnSpc>
            </a:pPr>
            <a:r>
              <a:rPr sz="12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 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(+13.4%). WTI did not (+61.8%)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-2.8%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OGDC, HBL, MCB, LUCK and KSE100. Only HBL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+13.6%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strategy library,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10,584 lines, 34 modules, 87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890 predictions journaled, 140 horizons matured, and all 140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A non-trade cannot be a correct prediction, so no directional hit rate exists.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 across 157 cycles,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path built, capped and staging-tested.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assets under management, no regulatory licence.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140 resolved snapshots graded as wins.</a:t>
            </a:r>
            <a:r>
              <a:rPr sz="1400">
                <a:solidFill>
                  <a:srgbClr val="8B94A6"/>
                </a:solidFill>
                <a:latin typeface="Segoe UI"/>
                <a:ea typeface="Segoe UI"/>
              </a:rPr>
              <a:t>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0975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EIGHT MORE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33950"/>
            <a:ext cx="3619500" cy="1295400"/>
          </a:xfrm>
        </p:spPr>
        <p:txBody>
          <a:bodyPr wrap="square" rtlCol="0">
            <a:normAutofit/>
          </a:bodyPr>
          <a:lstStyle/>
          <a:p>
            <a:pPr algn="l"/>
            <a:r>
              <a:rPr sz="1100">
                <a:solidFill>
                  <a:srgbClr val="8B94A6"/>
                </a:solidFill>
              </a:rPr>
              <a:t>•Risk limits froze at process start, so a tightened loss cap bound only after a restart.</a:t>
            </a:r>
            <a:br/>
            <a:r>
              <a:rPr sz="1100">
                <a:solidFill>
                  <a:srgbClr val="8B94A6"/>
                </a:solidFill>
              </a:rPr>
              <a:t>•The test suite could arm live mode and write into the production audit trail.</a:t>
            </a:r>
            <a:br/>
            <a:r>
              <a:rPr sz="1100">
                <a:solidFill>
                  <a:srgbClr val="8B94A6"/>
                </a:solidFill>
              </a:rPr>
              <a:t>•A restart reported LIVE while running paper.</a:t>
            </a:r>
            <a:br/>
            <a:r>
              <a:rPr sz="1100">
                <a:solidFill>
                  <a:srgbClr val="8B94A6"/>
                </a:solidFill>
              </a:rPr>
              <a:t>•The live broker account number sat in a committed test fixture.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five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 only. A dead model shrinks the council instead of substituting a second opinion into the median.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Anti-rot by design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Vendor model slugs retire without warning. Configured seats are checked against the live catalog every six hours and dead ones are reported, never hidden.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 broker is underneath it. PSX today, MT5 now, PMX scaffolded: 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890 predictions recorded, 140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87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