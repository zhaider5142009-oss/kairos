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2026-10-24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819275"/>
            <a:ext cx="190500" cy="22764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562225"/>
            <a:ext cx="190500" cy="153352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695575"/>
            <a:ext cx="190500" cy="14001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257550"/>
            <a:ext cx="190500" cy="8382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4095750"/>
            <a:ext cx="190500" cy="57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762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952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2000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238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4762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4953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752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5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33528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GOLD  WHEAT  WTI  HBL | MCB  EURUSD  NATGAS  KSE100  BTC  LUCK  COPPER  BRENT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17,226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42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675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5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9051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48400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+43.5%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9526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2959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+29.3%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7907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5133975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+26.8%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10668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410075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+16.0%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828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4171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2609850" y="4010025"/>
            <a:ext cx="6286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1981200" y="4000500"/>
            <a:ext cx="5715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-9.4%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COPPER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628900" y="4448175"/>
            <a:ext cx="60960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2000250" y="4438650"/>
            <a:ext cx="5715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-9.1%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86000" y="4886325"/>
            <a:ext cx="95250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38300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-14.3%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-1.1%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NATGAS -1.5%     KSE100 -1.8%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BTC -3.9%     LUCK -6.1%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-9.1%     BRENT -9.4%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OGDC -14.3%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E6E9EF"/>
                </a:solidFill>
                <a:latin typeface="Consolas"/>
                <a:ea typeface="Consolas"/>
              </a:rPr>
              <a:t>WHEAT Sharpe 1.60 · GOLD Sharpe 1.57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E6E9EF"/>
                </a:solidFill>
                <a:latin typeface="Segoe UI"/>
                <a:ea typeface="Segoe UI"/>
              </a:rPr>
              <a:t>SILVER Sharpe 1.44 · WTI Sharpe 0.77</a:t>
            </a:r>
          </a:p>
          <a:p>
            <a:pPr>
              <a:lnSpc>
                <a:spcPct val="145000"/>
              </a:lnSpc>
            </a:pPr>
            <a:r>
              <a:rPr sz="1200">
                <a:solidFill>
                  <a:srgbClr val="E6E9EF"/>
                </a:solidFill>
                <a:latin typeface="Segoe UI"/>
                <a:ea typeface="Segoe UI"/>
              </a:rPr>
              <a:t>HBL Sharpe 1.39 · all out-of-sample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F0B429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F0B429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(+11.6%). WTI did not (+50.2%) — a risk-adjusted win is not the same as an absolute one, and the deck 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-2.2%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+10.0%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commodity, crypto and index 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17,226 lines of Python, 42 modules, 675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263 horizons matured, and all 263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263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675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